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1" r:id="rId2"/>
    <p:sldId id="288" r:id="rId3"/>
    <p:sldId id="275" r:id="rId4"/>
    <p:sldId id="290" r:id="rId5"/>
    <p:sldId id="292" r:id="rId6"/>
    <p:sldId id="294" r:id="rId7"/>
    <p:sldId id="287" r:id="rId8"/>
    <p:sldId id="289" r:id="rId9"/>
    <p:sldId id="278" r:id="rId10"/>
    <p:sldId id="274" r:id="rId11"/>
    <p:sldId id="281" r:id="rId12"/>
    <p:sldId id="279" r:id="rId13"/>
    <p:sldId id="273" r:id="rId14"/>
    <p:sldId id="286" r:id="rId15"/>
    <p:sldId id="291" r:id="rId16"/>
    <p:sldId id="293" r:id="rId17"/>
    <p:sldId id="269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CCCC"/>
    <a:srgbClr val="6666FF"/>
    <a:srgbClr val="F7EFE7"/>
    <a:srgbClr val="90B4F6"/>
    <a:srgbClr val="CAC3BD"/>
    <a:srgbClr val="F9DEA3"/>
    <a:srgbClr val="EE7849"/>
    <a:srgbClr val="A9BCC7"/>
    <a:srgbClr val="F2B194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DA37D80-6434-44D0-A028-1B22A696006F}" styleName="밝은 스타일 3 - 강조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테마 스타일 1 - 강조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66" d="100"/>
          <a:sy n="66" d="100"/>
        </p:scale>
        <p:origin x="668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696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D0FD9-FFCF-4B9D-8576-104FF506D31B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A6DF90-ACE5-47D7-BB04-CACEDC8D2B0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91527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43978A-B13F-4F51-A10C-CDCC994C2C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DE3A9B6-E5CE-424A-A9DA-3A5706C2DE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A9E8D8B-7E69-424A-B3F9-3AF60188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D82B417-6E75-4F59-8D7F-2B9524144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8C9503-49F1-4AD3-B24E-B526B3D28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18172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28CF30-2EF5-45CA-8489-6B17C49837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10F357-6FD6-4C6F-B305-8391F53DCA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B3BAB9-4577-447B-A9D3-F019B5B07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F255A9-C4BB-45C0-8707-9F232250A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95E555C-B56D-455E-9882-776398E4D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80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18256E-02EF-4B80-A9DE-A2CFED7FB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98A7C0D-A569-4DC5-9B6B-B869ED353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7B0975-C6E7-4CBD-8266-927ACE536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6E4FE34-7F41-454E-923A-8FC448C63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B7FCAF-372D-4F31-8113-F1D16062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9272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5DE3D-CF9F-4B43-8928-67632D8E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2A1130-CA29-46D9-98CD-8AEFFE3A94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4C06667-A8E4-4E21-BA22-FE235343DF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C909A6-D0B4-41AA-B5E1-FA2A81D92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88D50E-134B-4EB2-8413-BD46AECD9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E8BBE8-0810-42CF-8BF4-9BC665FA2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576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0C5236-AA3A-4BA2-B704-077F4DEDB7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1EDD8B8-16EF-4149-84D9-5C51BE17A0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CD4AAB5-D86A-4D77-B9D3-43F091C08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4FC805A-30E4-4B49-971D-8A71189E91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B0DE9D7-6312-49EC-ACFB-87F17C9D53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A00306A-1A99-46DA-BD16-B8E2E347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D5D436E-6825-4ADC-88DA-9D2917904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86A50B3-FBB7-49C2-B3C8-031B553B4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4435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469A6A-F318-4B02-8B48-1D16824224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3772A60-CC73-440E-B921-A604F210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159AB4-D376-4087-894D-217493E61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65DFFD5-384B-42CB-8EA7-EA4AAD7AD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4849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E954F0A-0ADA-4153-B93B-3F916F678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1988C8-D255-4CC5-A63C-6012F31ED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D282611-EA94-44D3-A432-E8D3F7D33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25104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F5DAF5-4B45-48CA-91D4-7F3CC6F65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19EB7A-F423-44BA-A011-89E47172B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24EAA08-A82E-492F-A42A-FAEE7ED88B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597C8EA-83DD-4DCC-BCAC-14B61BFF7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10B0092-8162-4933-8208-3241F011C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DE88E89-8964-490E-A3F8-C11456491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34448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C3B895-F0E6-417C-91AF-FC77106BE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500F889D-F6A1-4CD3-A7EF-FF6DC4B8DB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8308076-F0A6-4FED-97BA-897E05C25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1336CB4-D55C-4A66-BF0C-77AA75002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27A1E3-C171-4893-AFC0-4126AA79C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A601620-650B-42C8-A0B6-84F9BF2CCD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0871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5F2F33-EC50-4C80-89B2-C4644524B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94ECECE-320F-4037-9475-3A10C00FB8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1E28-C168-4616-9126-C4F2E4071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42E0B1-B2FB-466B-A272-4D3A3E640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C657646-E7B1-4603-980A-2B28232DB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12917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283EA17-17A1-4EAA-BE04-F54712CEF8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72C39B8-2C73-4386-9EEA-93C4B4324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ADDB53-D6FC-4BF4-B5A5-D6FBEBA3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9BF496-D067-435E-9D83-D731591E7F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A8FDC7A-AF37-4C2A-AB32-DB5826E4F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886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03E94DA-1AFF-4878-8CEB-B255445029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4748CD-C42F-4379-BA60-12342E3DC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64659B-4FE8-4FC3-A60B-33E3C5E691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CEFB76-457A-4409-A8BD-7ACCA03B59D1}" type="datetimeFigureOut">
              <a:rPr lang="ko-KR" altLang="en-US" smtClean="0"/>
              <a:t>2022-04-26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0E7DB0-1313-4122-9C73-F59E1A9EA7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0599C3-8CD2-4289-B09D-A5B7BA93E5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156A-E699-4781-9986-B47109370B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067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그림 16">
            <a:extLst>
              <a:ext uri="{FF2B5EF4-FFF2-40B4-BE49-F238E27FC236}">
                <a16:creationId xmlns:a16="http://schemas.microsoft.com/office/drawing/2014/main" id="{12257273-EDBA-4962-9669-C877C5B2A71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238AC06-2BCF-4F0D-BF9A-170482274075}"/>
              </a:ext>
            </a:extLst>
          </p:cNvPr>
          <p:cNvSpPr txBox="1"/>
          <p:nvPr/>
        </p:nvSpPr>
        <p:spPr>
          <a:xfrm>
            <a:off x="1184532" y="1108931"/>
            <a:ext cx="55114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spc="-3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토스 기업분석보고서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81E4E3-97AE-4AA8-BA3D-CA154256A6E2}"/>
              </a:ext>
            </a:extLst>
          </p:cNvPr>
          <p:cNvSpPr txBox="1"/>
          <p:nvPr/>
        </p:nvSpPr>
        <p:spPr>
          <a:xfrm>
            <a:off x="1302191" y="2294198"/>
            <a:ext cx="47083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400" spc="-150" dirty="0">
                <a:solidFill>
                  <a:schemeClr val="bg2">
                    <a:lumMod val="25000"/>
                  </a:schemeClr>
                </a:solidFill>
              </a:rPr>
              <a:t>컴퓨터정보공학과 </a:t>
            </a:r>
            <a:r>
              <a:rPr lang="en-US" altLang="ko-KR" sz="2400" spc="-150" dirty="0">
                <a:solidFill>
                  <a:schemeClr val="bg2">
                    <a:lumMod val="25000"/>
                  </a:schemeClr>
                </a:solidFill>
              </a:rPr>
              <a:t>20190746</a:t>
            </a:r>
            <a:r>
              <a:rPr lang="ko-KR" altLang="en-US" sz="2400" spc="-150" dirty="0">
                <a:solidFill>
                  <a:schemeClr val="bg2">
                    <a:lumMod val="25000"/>
                  </a:schemeClr>
                </a:solidFill>
              </a:rPr>
              <a:t> 박재윤</a:t>
            </a:r>
          </a:p>
        </p:txBody>
      </p: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DA77DE98-0DCE-4CBC-BD76-6FFF6476BC4B}"/>
              </a:ext>
            </a:extLst>
          </p:cNvPr>
          <p:cNvGrpSpPr/>
          <p:nvPr/>
        </p:nvGrpSpPr>
        <p:grpSpPr>
          <a:xfrm>
            <a:off x="1184532" y="1968491"/>
            <a:ext cx="11007468" cy="198360"/>
            <a:chOff x="1184532" y="1968491"/>
            <a:chExt cx="11007468" cy="198360"/>
          </a:xfrm>
        </p:grpSpPr>
        <p:cxnSp>
          <p:nvCxnSpPr>
            <p:cNvPr id="23" name="직선 연결선 22">
              <a:extLst>
                <a:ext uri="{FF2B5EF4-FFF2-40B4-BE49-F238E27FC236}">
                  <a16:creationId xmlns:a16="http://schemas.microsoft.com/office/drawing/2014/main" id="{D6E218D5-3C03-4563-BD1B-8FCBB14C61F6}"/>
                </a:ext>
              </a:extLst>
            </p:cNvPr>
            <p:cNvCxnSpPr/>
            <p:nvPr/>
          </p:nvCxnSpPr>
          <p:spPr>
            <a:xfrm>
              <a:off x="1203158" y="2053389"/>
              <a:ext cx="10988842" cy="0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DD3F0FD7-272B-46CA-8684-0E120F2AA70D}"/>
                </a:ext>
              </a:extLst>
            </p:cNvPr>
            <p:cNvSpPr/>
            <p:nvPr/>
          </p:nvSpPr>
          <p:spPr>
            <a:xfrm>
              <a:off x="1184532" y="1968491"/>
              <a:ext cx="4605748" cy="19836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83273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E23011FC-8A03-42B8-8076-A849B5C44DF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EF87DB08-C7DB-44BA-AB4D-8C651DD413A8}"/>
              </a:ext>
            </a:extLst>
          </p:cNvPr>
          <p:cNvCxnSpPr/>
          <p:nvPr/>
        </p:nvCxnSpPr>
        <p:spPr>
          <a:xfrm>
            <a:off x="568960" y="924560"/>
            <a:ext cx="552704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BC41E65E-6F1C-4E48-9767-0E9A54365CBC}"/>
              </a:ext>
            </a:extLst>
          </p:cNvPr>
          <p:cNvSpPr txBox="1"/>
          <p:nvPr/>
        </p:nvSpPr>
        <p:spPr>
          <a:xfrm>
            <a:off x="1607793" y="447040"/>
            <a:ext cx="22413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 table of contents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4C18924-9923-412A-836E-A429F958CB39}"/>
              </a:ext>
            </a:extLst>
          </p:cNvPr>
          <p:cNvSpPr txBox="1"/>
          <p:nvPr/>
        </p:nvSpPr>
        <p:spPr>
          <a:xfrm>
            <a:off x="670560" y="231597"/>
            <a:ext cx="9316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200" dirty="0"/>
              <a:t>목차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4CE1647-3700-4CA5-A323-87D9A938F4A9}"/>
              </a:ext>
            </a:extLst>
          </p:cNvPr>
          <p:cNvSpPr/>
          <p:nvPr/>
        </p:nvSpPr>
        <p:spPr>
          <a:xfrm>
            <a:off x="741680" y="1483360"/>
            <a:ext cx="576000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0AFD87-C612-40F4-BCB5-D83053003D82}"/>
              </a:ext>
            </a:extLst>
          </p:cNvPr>
          <p:cNvSpPr/>
          <p:nvPr/>
        </p:nvSpPr>
        <p:spPr>
          <a:xfrm>
            <a:off x="740152" y="2499360"/>
            <a:ext cx="576000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5483B2A-EAF0-44B7-B167-B6CDED130D7C}"/>
              </a:ext>
            </a:extLst>
          </p:cNvPr>
          <p:cNvSpPr/>
          <p:nvPr/>
        </p:nvSpPr>
        <p:spPr>
          <a:xfrm>
            <a:off x="738624" y="3515360"/>
            <a:ext cx="576000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BA0AC09-CED3-4140-B997-7ADE1FBE106D}"/>
              </a:ext>
            </a:extLst>
          </p:cNvPr>
          <p:cNvSpPr/>
          <p:nvPr/>
        </p:nvSpPr>
        <p:spPr>
          <a:xfrm>
            <a:off x="737096" y="4531360"/>
            <a:ext cx="576000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5EFB714A-7B35-40C0-8676-3AE985CA9762}"/>
              </a:ext>
            </a:extLst>
          </p:cNvPr>
          <p:cNvSpPr/>
          <p:nvPr/>
        </p:nvSpPr>
        <p:spPr>
          <a:xfrm>
            <a:off x="735568" y="5547360"/>
            <a:ext cx="576000" cy="576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125C71-7197-4584-A02F-945A1E1B5F31}"/>
              </a:ext>
            </a:extLst>
          </p:cNvPr>
          <p:cNvSpPr txBox="1"/>
          <p:nvPr/>
        </p:nvSpPr>
        <p:spPr>
          <a:xfrm>
            <a:off x="862306" y="15866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AAD084B-9DB7-464D-A3A7-A1A2628BD076}"/>
              </a:ext>
            </a:extLst>
          </p:cNvPr>
          <p:cNvSpPr txBox="1"/>
          <p:nvPr/>
        </p:nvSpPr>
        <p:spPr>
          <a:xfrm>
            <a:off x="862306" y="26026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5773D2-7281-4C0A-969C-E3B7DC614313}"/>
              </a:ext>
            </a:extLst>
          </p:cNvPr>
          <p:cNvSpPr txBox="1"/>
          <p:nvPr/>
        </p:nvSpPr>
        <p:spPr>
          <a:xfrm>
            <a:off x="862306" y="36186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4D1DF6-0FFA-407E-8942-6EF7AB688DC2}"/>
              </a:ext>
            </a:extLst>
          </p:cNvPr>
          <p:cNvSpPr txBox="1"/>
          <p:nvPr/>
        </p:nvSpPr>
        <p:spPr>
          <a:xfrm>
            <a:off x="862306" y="46346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42A4167-815F-4AD7-8D5D-3DAD688124B1}"/>
              </a:ext>
            </a:extLst>
          </p:cNvPr>
          <p:cNvSpPr txBox="1"/>
          <p:nvPr/>
        </p:nvSpPr>
        <p:spPr>
          <a:xfrm>
            <a:off x="862306" y="5650694"/>
            <a:ext cx="322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FD2527-112B-48BF-8011-293FD233E974}"/>
              </a:ext>
            </a:extLst>
          </p:cNvPr>
          <p:cNvSpPr txBox="1"/>
          <p:nvPr/>
        </p:nvSpPr>
        <p:spPr>
          <a:xfrm>
            <a:off x="1438306" y="1555916"/>
            <a:ext cx="17107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150" dirty="0"/>
              <a:t>기업 선정 이유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392DAB2-4D32-4ED1-A4DE-D789EC4DC8D0}"/>
              </a:ext>
            </a:extLst>
          </p:cNvPr>
          <p:cNvSpPr txBox="1"/>
          <p:nvPr/>
        </p:nvSpPr>
        <p:spPr>
          <a:xfrm>
            <a:off x="1438305" y="2587381"/>
            <a:ext cx="2250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150" dirty="0"/>
              <a:t>상황분석 </a:t>
            </a:r>
            <a:r>
              <a:rPr lang="en-US" altLang="ko-KR" sz="2000" spc="-150" dirty="0"/>
              <a:t>- </a:t>
            </a:r>
            <a:r>
              <a:rPr lang="ko-KR" altLang="en-US" sz="2000" spc="-150" dirty="0"/>
              <a:t>외부환경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11FD965-6E92-4213-9183-4C696358AAC9}"/>
              </a:ext>
            </a:extLst>
          </p:cNvPr>
          <p:cNvSpPr txBox="1"/>
          <p:nvPr/>
        </p:nvSpPr>
        <p:spPr>
          <a:xfrm>
            <a:off x="1438305" y="3603305"/>
            <a:ext cx="22509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150" dirty="0"/>
              <a:t>상황분석</a:t>
            </a:r>
            <a:r>
              <a:rPr lang="en-US" altLang="ko-KR" sz="2000" spc="-150" dirty="0"/>
              <a:t> - </a:t>
            </a:r>
            <a:r>
              <a:rPr lang="ko-KR" altLang="en-US" sz="2000" spc="-150" dirty="0"/>
              <a:t>내부환경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4C8FB4-6886-4981-9F4D-71D6CCEC1095}"/>
              </a:ext>
            </a:extLst>
          </p:cNvPr>
          <p:cNvSpPr txBox="1"/>
          <p:nvPr/>
        </p:nvSpPr>
        <p:spPr>
          <a:xfrm>
            <a:off x="1438305" y="4619229"/>
            <a:ext cx="94769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150" dirty="0"/>
              <a:t>느낀 점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FA1A7F2-BB0E-474C-B509-4895E9EB8DFE}"/>
              </a:ext>
            </a:extLst>
          </p:cNvPr>
          <p:cNvSpPr txBox="1"/>
          <p:nvPr/>
        </p:nvSpPr>
        <p:spPr>
          <a:xfrm>
            <a:off x="1438305" y="5635153"/>
            <a:ext cx="113364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2000" spc="-150" dirty="0"/>
              <a:t>참고자료</a:t>
            </a:r>
          </a:p>
        </p:txBody>
      </p: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B92CA5E2-3105-4535-B0F3-214DD154B3F3}"/>
              </a:ext>
            </a:extLst>
          </p:cNvPr>
          <p:cNvCxnSpPr/>
          <p:nvPr/>
        </p:nvCxnSpPr>
        <p:spPr>
          <a:xfrm>
            <a:off x="568960" y="924560"/>
            <a:ext cx="3348000" cy="0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450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7" y="176466"/>
            <a:ext cx="8239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300" dirty="0"/>
              <a:t>1. </a:t>
            </a:r>
            <a:r>
              <a:rPr lang="ko-KR" altLang="en-US" sz="5400" spc="-300" dirty="0"/>
              <a:t>기업 선정 이유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3B395C45-BCCD-4C1F-BABD-6B0BB30C2747}"/>
              </a:ext>
            </a:extLst>
          </p:cNvPr>
          <p:cNvSpPr/>
          <p:nvPr/>
        </p:nvSpPr>
        <p:spPr>
          <a:xfrm>
            <a:off x="815740" y="2326908"/>
            <a:ext cx="10688856" cy="220418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제가 많은 기업 중에 토스를 선택한 이유는 다른 은행 앱들과 달리 송금 절차가 간편했고 상대의 전화번호만 알고 있으면 계좌번호 없이 송금을 할 수 있다는 편리함과 차별성</a:t>
            </a:r>
            <a:r>
              <a:rPr lang="en-US" altLang="ko-KR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, </a:t>
            </a:r>
            <a:r>
              <a:rPr lang="ko-KR" altLang="en-US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이 앱 하나로 주식도 할 수 있어 제가 가장 많이 이용하는 앱 중 하나이기에 이 기회에 토스라는 회사에 대해 조금도 알아보고 싶어 선택하게 되었습니다</a:t>
            </a:r>
            <a:r>
              <a:rPr lang="en-US" altLang="ko-KR"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7945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</a:t>
            </a:r>
            <a:r>
              <a:rPr lang="ko-KR" altLang="en-US" sz="4000" spc="-300" dirty="0"/>
              <a:t> 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21642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PESTG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분석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64FDF8E-3FA4-4910-A09B-ADDA42A2C1A9}"/>
              </a:ext>
            </a:extLst>
          </p:cNvPr>
          <p:cNvSpPr/>
          <p:nvPr/>
        </p:nvSpPr>
        <p:spPr>
          <a:xfrm>
            <a:off x="288758" y="1323397"/>
            <a:ext cx="5699981" cy="519170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A4FF69F-2EED-444F-ACE9-B21A16E3F29E}"/>
              </a:ext>
            </a:extLst>
          </p:cNvPr>
          <p:cNvSpPr/>
          <p:nvPr/>
        </p:nvSpPr>
        <p:spPr>
          <a:xfrm>
            <a:off x="6217339" y="1323397"/>
            <a:ext cx="5504802" cy="51917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861107F-FEDE-4321-8781-8F8BAF13A718}"/>
              </a:ext>
            </a:extLst>
          </p:cNvPr>
          <p:cNvSpPr/>
          <p:nvPr/>
        </p:nvSpPr>
        <p:spPr>
          <a:xfrm>
            <a:off x="5409108" y="5894470"/>
            <a:ext cx="48260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09F91C0-F755-44B1-A71C-6D73AB0651A6}"/>
              </a:ext>
            </a:extLst>
          </p:cNvPr>
          <p:cNvSpPr txBox="1"/>
          <p:nvPr/>
        </p:nvSpPr>
        <p:spPr>
          <a:xfrm>
            <a:off x="5452052" y="5925873"/>
            <a:ext cx="38985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626E771-B683-4F09-9C7F-EB3D203D7564}"/>
              </a:ext>
            </a:extLst>
          </p:cNvPr>
          <p:cNvSpPr/>
          <p:nvPr/>
        </p:nvSpPr>
        <p:spPr>
          <a:xfrm>
            <a:off x="6359679" y="5894470"/>
            <a:ext cx="48260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8FE7690-BDE4-4EA6-8567-1F2713DD6F5E}"/>
              </a:ext>
            </a:extLst>
          </p:cNvPr>
          <p:cNvSpPr txBox="1"/>
          <p:nvPr/>
        </p:nvSpPr>
        <p:spPr>
          <a:xfrm>
            <a:off x="6467864" y="5915236"/>
            <a:ext cx="266230" cy="46408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8F4FA7B-5018-4CC5-AB8C-B4FABE6CCEAF}"/>
              </a:ext>
            </a:extLst>
          </p:cNvPr>
          <p:cNvSpPr txBox="1"/>
          <p:nvPr/>
        </p:nvSpPr>
        <p:spPr>
          <a:xfrm>
            <a:off x="387055" y="1497713"/>
            <a:ext cx="5697863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핀테크의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성장을 저해하는 망 분리 규제 완화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(22.4.14)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개발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테스트 서버에 대한 망 분리 규제를 완화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마이데이터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본인신용정보관리업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규제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(21.12.30)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금융소비자보호법으로 소비자 맞춤형 추천 서비스를 포기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최저임금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21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(8,720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), 22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(9,160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코로나로 인한 저금리 정책지속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대출증가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주택시장가격이 소득 대비 높은 수준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가계부채 심화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새 정부 주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52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시간 유연화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포괄임금제를 규제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근로 시간을 유연하게 운영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국회에 계류 중인 전자금융거래법 개정안의 처리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디지털금융의 혁신과 안정을 위한 기틀 마련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E9B04C3-50D6-4569-94DC-CF8891663E1C}"/>
              </a:ext>
            </a:extLst>
          </p:cNvPr>
          <p:cNvSpPr txBox="1"/>
          <p:nvPr/>
        </p:nvSpPr>
        <p:spPr>
          <a:xfrm>
            <a:off x="6359679" y="1497713"/>
            <a:ext cx="5494883" cy="37782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4%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 고물가와 성장률 둔화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스태그플레이션과 러시아의 우크라이나 침공으로 인한 경기 회복 둔화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환율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달러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(1,240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/$)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엔화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(967, 97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원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/100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주식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2,704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선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토스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vs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카카오페이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vs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네이버페이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vs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삼성페이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대부분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간편화되었기에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차별성으로 경쟁하여 고객들을 사로잡아야 함</a:t>
            </a:r>
          </a:p>
          <a:p>
            <a:pPr>
              <a:lnSpc>
                <a:spcPct val="150000"/>
              </a:lnSpc>
            </a:pP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22685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</a:t>
            </a:r>
            <a:r>
              <a:rPr lang="ko-KR" altLang="en-US" sz="4000" spc="-300" dirty="0"/>
              <a:t> 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21642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PESTG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6BAD2B-B0D7-4DB0-83C8-0F619484828B}"/>
              </a:ext>
            </a:extLst>
          </p:cNvPr>
          <p:cNvSpPr/>
          <p:nvPr/>
        </p:nvSpPr>
        <p:spPr>
          <a:xfrm>
            <a:off x="483937" y="1326161"/>
            <a:ext cx="5504802" cy="52406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7DEC69E7-98EC-4D0B-891D-2E2DB2240FC8}"/>
              </a:ext>
            </a:extLst>
          </p:cNvPr>
          <p:cNvSpPr/>
          <p:nvPr/>
        </p:nvSpPr>
        <p:spPr>
          <a:xfrm>
            <a:off x="6217339" y="1326160"/>
            <a:ext cx="5688116" cy="524062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19543-2152-4A9E-8B32-9B64683EA4AD}"/>
              </a:ext>
            </a:extLst>
          </p:cNvPr>
          <p:cNvSpPr/>
          <p:nvPr/>
        </p:nvSpPr>
        <p:spPr>
          <a:xfrm>
            <a:off x="5439292" y="6000564"/>
            <a:ext cx="48260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FCE010-D27B-4AC1-9B46-1723481BE806}"/>
              </a:ext>
            </a:extLst>
          </p:cNvPr>
          <p:cNvSpPr txBox="1"/>
          <p:nvPr/>
        </p:nvSpPr>
        <p:spPr>
          <a:xfrm>
            <a:off x="5466220" y="6029462"/>
            <a:ext cx="389851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EE4E8A08-B82C-4F89-84D0-F34D46B1DBD0}"/>
              </a:ext>
            </a:extLst>
          </p:cNvPr>
          <p:cNvSpPr/>
          <p:nvPr/>
        </p:nvSpPr>
        <p:spPr>
          <a:xfrm>
            <a:off x="6346319" y="6000564"/>
            <a:ext cx="48260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BAB43B8-60E2-42DB-A79B-B678A9E870BF}"/>
              </a:ext>
            </a:extLst>
          </p:cNvPr>
          <p:cNvSpPr txBox="1"/>
          <p:nvPr/>
        </p:nvSpPr>
        <p:spPr>
          <a:xfrm>
            <a:off x="6399530" y="6011031"/>
            <a:ext cx="37221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r"/>
            <a:r>
              <a:rPr lang="pt-BR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E59F6C-1164-4B9B-BA4F-F3412EF0B144}"/>
              </a:ext>
            </a:extLst>
          </p:cNvPr>
          <p:cNvSpPr txBox="1"/>
          <p:nvPr/>
        </p:nvSpPr>
        <p:spPr>
          <a:xfrm>
            <a:off x="763247" y="1377860"/>
            <a:ext cx="5225492" cy="5024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인구 구조의 변화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초고령화 사회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1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 가구 증가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저출산 지속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(0.7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건강식을 중요시하는 트렌드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친환경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유기농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웰빙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/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저염식</a:t>
            </a: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헬시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플레저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MZ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세대의 자기 계발 방법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 미디어의 발전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지상파와 케이블을 보는 사람은 줄었고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인 미디어 방송을 많이 봄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MZ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세대가 가는 곳이 곧 트렌드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b="1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소비의 중심이 된 세대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경험이 된다고 생각이 들면 과감히 도전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정치적 이슈에도 민감하게 반응</a:t>
            </a:r>
            <a:r>
              <a:rPr lang="en-US" altLang="ko-KR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명품 소비</a:t>
            </a:r>
            <a:r>
              <a:rPr lang="en-US" altLang="ko-KR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오픈런</a:t>
            </a:r>
            <a:r>
              <a:rPr lang="en-US" altLang="ko-KR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재테크에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눈뜨고 결단력을 가지고 바로 실행에 옮기는 성향이 강하게 나타남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3FCF97-7CE9-42A2-8068-2079E78110FC}"/>
              </a:ext>
            </a:extLst>
          </p:cNvPr>
          <p:cNvSpPr txBox="1"/>
          <p:nvPr/>
        </p:nvSpPr>
        <p:spPr>
          <a:xfrm>
            <a:off x="6344339" y="1420200"/>
            <a:ext cx="5561116" cy="4107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금융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핵심 활용 분야 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로보어드바이저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고객 맞춤형 자산 관리 서비스 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알고리즘 거래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알고리즘에 따라 상품거래를 자동으로 이루어지게 한 거래 방식 </a:t>
            </a: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고객 응대 및 접점 확대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챗봇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금융기관 내부 프로세스에서의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활용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신용평가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대출심사</a:t>
            </a:r>
          </a:p>
          <a:p>
            <a:pPr>
              <a:lnSpc>
                <a:spcPct val="150000"/>
              </a:lnSpc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보안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위험 관리에서의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활용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: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이상 금융거래탐지시스템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IOT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와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AI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의 만남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계산대 없는 무인 편의점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셀프 스토어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이마트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24),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로봇청소기의 발전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핸드폰 보급률 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1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위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(2019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년 기준</a:t>
            </a:r>
            <a:r>
              <a:rPr lang="en-US" altLang="ko-KR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 - 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모바일 관련 사업을 펼치기 좋은 환경이 마련됨</a:t>
            </a:r>
          </a:p>
        </p:txBody>
      </p:sp>
    </p:spTree>
    <p:extLst>
      <p:ext uri="{BB962C8B-B14F-4D97-AF65-F5344CB8AC3E}">
        <p14:creationId xmlns:p14="http://schemas.microsoft.com/office/powerpoint/2010/main" val="24216213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</a:t>
            </a:r>
            <a:r>
              <a:rPr lang="ko-KR" altLang="en-US" sz="4000" spc="-300" dirty="0"/>
              <a:t> 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808267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30861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일반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PESTG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분석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F76BAD2B-B0D7-4DB0-83C8-0F619484828B}"/>
              </a:ext>
            </a:extLst>
          </p:cNvPr>
          <p:cNvSpPr/>
          <p:nvPr/>
        </p:nvSpPr>
        <p:spPr>
          <a:xfrm>
            <a:off x="841420" y="1326162"/>
            <a:ext cx="10689177" cy="442347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85A19543-2152-4A9E-8B32-9B64683EA4AD}"/>
              </a:ext>
            </a:extLst>
          </p:cNvPr>
          <p:cNvSpPr/>
          <p:nvPr/>
        </p:nvSpPr>
        <p:spPr>
          <a:xfrm>
            <a:off x="5854699" y="5241004"/>
            <a:ext cx="482600" cy="4826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FCE010-D27B-4AC1-9B46-1723481BE806}"/>
              </a:ext>
            </a:extLst>
          </p:cNvPr>
          <p:cNvSpPr txBox="1"/>
          <p:nvPr/>
        </p:nvSpPr>
        <p:spPr>
          <a:xfrm>
            <a:off x="5884242" y="5243447"/>
            <a:ext cx="423514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pt-BR" altLang="ko-KR" sz="2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</a:t>
            </a:r>
            <a:endParaRPr lang="ko-KR" altLang="en-US" sz="24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CE59F6C-1164-4B9B-BA4F-F3412EF0B144}"/>
              </a:ext>
            </a:extLst>
          </p:cNvPr>
          <p:cNvSpPr txBox="1"/>
          <p:nvPr/>
        </p:nvSpPr>
        <p:spPr>
          <a:xfrm>
            <a:off x="1021439" y="1481217"/>
            <a:ext cx="10509158" cy="46092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러시아의 우크라이나 침공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디지털 자금과 자원을 확보하기 작업을 계속을 시도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러시아가 암호 화폐를 활용한다면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SWIFT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가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아니라도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금융거래 지속 가능 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우크라이나에 암호 화폐로 지원금을 보내는 사례 증가  </a:t>
            </a: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루블화의 빠른 가치 하락으로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0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루블 산화 가능성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-&amp;</a:t>
            </a:r>
            <a:r>
              <a:rPr lang="en-US" altLang="ko-KR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gt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;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도피처로 암호 화폐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그 지역의 사람들이나 기업들이 안전하게 자금을 비축하기 위해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비트코인으로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재산을 전환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코로나 방역 조치 완화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?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글로벌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OTT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기업들이 큰 타격을 입음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(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넷플릭스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주가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35.1%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하락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IT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기업과 배달 플랫폼 이용자 수가 크게 떨어짐 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핀테크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부문도 매출이 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6.9%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감소</a:t>
            </a:r>
          </a:p>
          <a:p>
            <a:pPr>
              <a:lnSpc>
                <a:spcPct val="150000"/>
              </a:lnSpc>
            </a:pP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-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코로나 방역 조치의 완화가 관련 매출에 압박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연봉 상승 등에 따른 인건비 부담과 마케팅 증가 등의 요인 반영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altLang="ko-KR" spc="-15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6965AE-4CA8-4CA4-8192-98D6DA6BDBC2}"/>
              </a:ext>
            </a:extLst>
          </p:cNvPr>
          <p:cNvSpPr txBox="1"/>
          <p:nvPr/>
        </p:nvSpPr>
        <p:spPr>
          <a:xfrm>
            <a:off x="1021439" y="5807918"/>
            <a:ext cx="105091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 도출 </a:t>
            </a:r>
            <a:r>
              <a:rPr lang="en-US" altLang="ko-KR" dirty="0"/>
              <a:t>: </a:t>
            </a:r>
            <a:r>
              <a:rPr lang="ko-KR" altLang="en-US" dirty="0"/>
              <a:t>인구 구조 변화</a:t>
            </a:r>
            <a:r>
              <a:rPr lang="en-US" altLang="ko-KR" dirty="0"/>
              <a:t>(1</a:t>
            </a:r>
            <a:r>
              <a:rPr lang="ko-KR" altLang="en-US" dirty="0"/>
              <a:t>인 가구</a:t>
            </a:r>
            <a:r>
              <a:rPr lang="en-US" altLang="ko-KR" dirty="0"/>
              <a:t>, </a:t>
            </a:r>
            <a:r>
              <a:rPr lang="ko-KR" altLang="en-US" dirty="0"/>
              <a:t>고령화</a:t>
            </a:r>
            <a:r>
              <a:rPr lang="en-US" altLang="ko-KR" dirty="0"/>
              <a:t>, </a:t>
            </a:r>
            <a:r>
              <a:rPr lang="ko-KR" altLang="en-US" dirty="0"/>
              <a:t>저출산</a:t>
            </a:r>
            <a:r>
              <a:rPr lang="en-US" altLang="ko-KR" dirty="0"/>
              <a:t>)</a:t>
            </a:r>
            <a:r>
              <a:rPr lang="ko-KR" altLang="en-US" dirty="0"/>
              <a:t>와 정치적 제도 변화</a:t>
            </a:r>
            <a:r>
              <a:rPr lang="en-US" altLang="ko-KR" dirty="0"/>
              <a:t>(</a:t>
            </a:r>
            <a:r>
              <a:rPr lang="ko-KR" altLang="en-US" dirty="0"/>
              <a:t>최저임금</a:t>
            </a:r>
            <a:r>
              <a:rPr lang="en-US" altLang="ko-KR" dirty="0"/>
              <a:t>, 52</a:t>
            </a:r>
            <a:r>
              <a:rPr lang="ko-KR" altLang="en-US" dirty="0"/>
              <a:t>시간제 유연화</a:t>
            </a:r>
            <a:r>
              <a:rPr lang="en-US" altLang="ko-KR" dirty="0"/>
              <a:t>), </a:t>
            </a:r>
            <a:r>
              <a:rPr lang="ko-KR" altLang="en-US" dirty="0"/>
              <a:t>코로나의 영향으로 건강에 관한 관심과 트렌드의 중심인 </a:t>
            </a:r>
            <a:r>
              <a:rPr lang="en-US" altLang="ko-KR" b="1" u="sng" dirty="0"/>
              <a:t>MZ</a:t>
            </a:r>
            <a:r>
              <a:rPr lang="ko-KR" altLang="en-US" b="1" u="sng" dirty="0"/>
              <a:t>세대에 초점을 맞춘 전략이 </a:t>
            </a:r>
            <a:r>
              <a:rPr lang="ko-KR" altLang="en-US" dirty="0"/>
              <a:t>필요하게 되었고  </a:t>
            </a:r>
            <a:r>
              <a:rPr lang="en-US" altLang="ko-KR" dirty="0"/>
              <a:t>4</a:t>
            </a:r>
            <a:r>
              <a:rPr lang="ko-KR" altLang="en-US" dirty="0"/>
              <a:t>차 산업혁명</a:t>
            </a:r>
            <a:r>
              <a:rPr lang="en-US" altLang="ko-KR" dirty="0"/>
              <a:t>(AI, IOT)</a:t>
            </a:r>
            <a:r>
              <a:rPr lang="ko-KR" altLang="en-US" dirty="0"/>
              <a:t>의 급속한 발전으로 </a:t>
            </a:r>
            <a:r>
              <a:rPr lang="ko-KR" altLang="en-US" b="1" u="sng" dirty="0"/>
              <a:t>차별성이 존재해야 </a:t>
            </a:r>
            <a:r>
              <a:rPr lang="ko-KR" altLang="en-US" dirty="0"/>
              <a:t>생존경쟁에서 이길 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8346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 </a:t>
            </a:r>
            <a:r>
              <a:rPr lang="ko-KR" altLang="en-US" sz="4000" spc="-300" dirty="0"/>
              <a:t>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98644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196880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산업 환경 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CD9409F-B646-4AD8-91B1-85D95995A7D7}"/>
              </a:ext>
            </a:extLst>
          </p:cNvPr>
          <p:cNvCxnSpPr>
            <a:cxnSpLocks/>
          </p:cNvCxnSpPr>
          <p:nvPr/>
        </p:nvCxnSpPr>
        <p:spPr>
          <a:xfrm>
            <a:off x="0" y="3732444"/>
            <a:ext cx="5755907" cy="0"/>
          </a:xfrm>
          <a:prstGeom prst="line">
            <a:avLst/>
          </a:prstGeom>
          <a:ln w="57150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>
            <a:extLst>
              <a:ext uri="{FF2B5EF4-FFF2-40B4-BE49-F238E27FC236}">
                <a16:creationId xmlns:a16="http://schemas.microsoft.com/office/drawing/2014/main" id="{877C7D7B-1218-40AA-BC37-4D83C35A212F}"/>
              </a:ext>
            </a:extLst>
          </p:cNvPr>
          <p:cNvCxnSpPr/>
          <p:nvPr/>
        </p:nvCxnSpPr>
        <p:spPr>
          <a:xfrm flipV="1">
            <a:off x="368432" y="3715794"/>
            <a:ext cx="0" cy="71995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연결선 26">
            <a:extLst>
              <a:ext uri="{FF2B5EF4-FFF2-40B4-BE49-F238E27FC236}">
                <a16:creationId xmlns:a16="http://schemas.microsoft.com/office/drawing/2014/main" id="{FFE2596E-5479-40F9-BE08-E44D4E4B3B63}"/>
              </a:ext>
            </a:extLst>
          </p:cNvPr>
          <p:cNvCxnSpPr/>
          <p:nvPr/>
        </p:nvCxnSpPr>
        <p:spPr>
          <a:xfrm flipV="1">
            <a:off x="2645665" y="2240531"/>
            <a:ext cx="0" cy="1440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연결선 27">
            <a:extLst>
              <a:ext uri="{FF2B5EF4-FFF2-40B4-BE49-F238E27FC236}">
                <a16:creationId xmlns:a16="http://schemas.microsoft.com/office/drawing/2014/main" id="{0488605D-AB71-4DD3-BFE6-A6378B1CAB20}"/>
              </a:ext>
            </a:extLst>
          </p:cNvPr>
          <p:cNvCxnSpPr/>
          <p:nvPr/>
        </p:nvCxnSpPr>
        <p:spPr>
          <a:xfrm flipV="1">
            <a:off x="3165916" y="3723695"/>
            <a:ext cx="0" cy="758821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44F41CEE-9911-400B-BB82-C79167C1172A}"/>
              </a:ext>
            </a:extLst>
          </p:cNvPr>
          <p:cNvSpPr txBox="1"/>
          <p:nvPr/>
        </p:nvSpPr>
        <p:spPr>
          <a:xfrm>
            <a:off x="3191316" y="4030045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2018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CE562B1-C5B1-48C3-AC73-13FA8A5C1E7A}"/>
              </a:ext>
            </a:extLst>
          </p:cNvPr>
          <p:cNvSpPr txBox="1"/>
          <p:nvPr/>
        </p:nvSpPr>
        <p:spPr>
          <a:xfrm>
            <a:off x="2734566" y="220071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2016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F725668-9A0D-4797-986F-A12F3A379D06}"/>
              </a:ext>
            </a:extLst>
          </p:cNvPr>
          <p:cNvSpPr txBox="1"/>
          <p:nvPr/>
        </p:nvSpPr>
        <p:spPr>
          <a:xfrm>
            <a:off x="300759" y="2200719"/>
            <a:ext cx="7489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lang="en-US" altLang="ko-KR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2008</a:t>
            </a:r>
            <a:endParaRPr lang="ko-KR" alt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29D41A6-8BCC-4FC9-BCA0-824D65BED0B0}"/>
              </a:ext>
            </a:extLst>
          </p:cNvPr>
          <p:cNvSpPr txBox="1"/>
          <p:nvPr/>
        </p:nvSpPr>
        <p:spPr>
          <a:xfrm>
            <a:off x="393832" y="4066686"/>
            <a:ext cx="135325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핀테크의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발전</a:t>
            </a:r>
          </a:p>
        </p:txBody>
      </p:sp>
      <p:cxnSp>
        <p:nvCxnSpPr>
          <p:cNvPr id="40" name="직선 연결선 39">
            <a:extLst>
              <a:ext uri="{FF2B5EF4-FFF2-40B4-BE49-F238E27FC236}">
                <a16:creationId xmlns:a16="http://schemas.microsoft.com/office/drawing/2014/main" id="{6130C2E4-9EBE-473A-AF18-65BD663EAE67}"/>
              </a:ext>
            </a:extLst>
          </p:cNvPr>
          <p:cNvCxnSpPr/>
          <p:nvPr/>
        </p:nvCxnSpPr>
        <p:spPr>
          <a:xfrm>
            <a:off x="186459" y="2240531"/>
            <a:ext cx="0" cy="144000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B5BE14DD-7441-4593-A87E-C5326DF0D771}"/>
              </a:ext>
            </a:extLst>
          </p:cNvPr>
          <p:cNvSpPr txBox="1"/>
          <p:nvPr/>
        </p:nvSpPr>
        <p:spPr>
          <a:xfrm>
            <a:off x="397243" y="4389961"/>
            <a:ext cx="259398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거래 과정을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전자화하여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비용을 줄이고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업무 속도 증가시킴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소비자도 이용하기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편해짐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/>
            <a:r>
              <a:rPr lang="ko-KR" altLang="en-US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간편해진 결제 덕에 전자상거래 시장도 비약적으로 성장 </a:t>
            </a:r>
            <a:endParaRPr lang="en-US" altLang="ko-KR" sz="1200" b="1" u="sng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/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기업들도 직접 전자결제 시장에 뛰어들었고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, IT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기업들의 금융 산업 진출 가능성을 높임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060BFC4-41CB-4B5C-875C-EE8A1E932B40}"/>
              </a:ext>
            </a:extLst>
          </p:cNvPr>
          <p:cNvSpPr txBox="1"/>
          <p:nvPr/>
        </p:nvSpPr>
        <p:spPr>
          <a:xfrm>
            <a:off x="3295859" y="4482773"/>
            <a:ext cx="21499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핀테크와</a:t>
            </a:r>
            <a:r>
              <a:rPr lang="ko-KR" altLang="en-US" sz="16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b="1" u="sng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테크핀의</a:t>
            </a:r>
            <a:r>
              <a:rPr lang="ko-KR" altLang="en-US" sz="1600" b="1" u="sng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차이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805FB5-E58E-4D2A-8D84-17BD2B225D29}"/>
              </a:ext>
            </a:extLst>
          </p:cNvPr>
          <p:cNvSpPr txBox="1"/>
          <p:nvPr/>
        </p:nvSpPr>
        <p:spPr>
          <a:xfrm>
            <a:off x="3278664" y="4824171"/>
            <a:ext cx="259398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b="0" i="0" dirty="0" err="1">
                <a:solidFill>
                  <a:srgbClr val="474747"/>
                </a:solidFill>
                <a:effectLst/>
                <a:latin typeface="Nanum Gothic"/>
              </a:rPr>
              <a:t>핀테크</a:t>
            </a:r>
            <a:r>
              <a:rPr lang="ko-KR" altLang="en-US" sz="1200" b="0" i="0" dirty="0">
                <a:solidFill>
                  <a:srgbClr val="474747"/>
                </a:solidFill>
                <a:effectLst/>
                <a:latin typeface="Nanum Gothic"/>
              </a:rPr>
              <a:t> 기업들이 기존의 거래구조를 기반으로 어떻게 하면 더 저렴하고 빠른 서비스를 만들 수 있는지 고민하는 것에 반해</a:t>
            </a:r>
            <a:r>
              <a:rPr lang="en-US" altLang="ko-KR" sz="1200" b="0" i="0" dirty="0">
                <a:solidFill>
                  <a:srgbClr val="474747"/>
                </a:solidFill>
                <a:effectLst/>
                <a:latin typeface="Nanum Gothic"/>
              </a:rPr>
              <a:t>, </a:t>
            </a:r>
            <a:r>
              <a:rPr lang="ko-KR" altLang="en-US" sz="1200" b="0" i="0" dirty="0" err="1">
                <a:solidFill>
                  <a:srgbClr val="474747"/>
                </a:solidFill>
                <a:effectLst/>
                <a:latin typeface="Nanum Gothic"/>
              </a:rPr>
              <a:t>테크핀</a:t>
            </a:r>
            <a:r>
              <a:rPr lang="ko-KR" altLang="en-US" sz="1200" b="0" i="0" dirty="0">
                <a:solidFill>
                  <a:srgbClr val="474747"/>
                </a:solidFill>
                <a:effectLst/>
                <a:latin typeface="Nanum Gothic"/>
              </a:rPr>
              <a:t> 기업들은 기술력을 기반으로 이것이 어떻게 상업과 거래에서 사용될 수 있는지 고민한다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8218B24-0AA3-44EB-9F51-D1A351F1AD09}"/>
              </a:ext>
            </a:extLst>
          </p:cNvPr>
          <p:cNvSpPr txBox="1"/>
          <p:nvPr/>
        </p:nvSpPr>
        <p:spPr>
          <a:xfrm>
            <a:off x="302862" y="2660665"/>
            <a:ext cx="201689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금융위기 속에 첫 등장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B9AE90F-21AB-4FED-A0E4-599E0B840497}"/>
              </a:ext>
            </a:extLst>
          </p:cNvPr>
          <p:cNvSpPr txBox="1"/>
          <p:nvPr/>
        </p:nvSpPr>
        <p:spPr>
          <a:xfrm>
            <a:off x="285666" y="3002063"/>
            <a:ext cx="23039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금융위기를 겪은 업계가 수익성 회복을 위해 </a:t>
            </a:r>
            <a:r>
              <a:rPr lang="en-US" altLang="ko-KR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</a:t>
            </a:r>
            <a:r>
              <a:rPr lang="ko-KR" altLang="en-US" sz="1200" b="1" u="sng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기업과 손잡고 상품 개발 하면서 나온 용어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1F704E0-6176-4C93-9F5E-3CF55FF38659}"/>
              </a:ext>
            </a:extLst>
          </p:cNvPr>
          <p:cNvSpPr txBox="1"/>
          <p:nvPr/>
        </p:nvSpPr>
        <p:spPr>
          <a:xfrm>
            <a:off x="2736782" y="2612798"/>
            <a:ext cx="15392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테크핀의</a:t>
            </a:r>
            <a:r>
              <a:rPr lang="ko-KR" altLang="en-US" sz="1600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  <a:r>
              <a:rPr lang="ko-KR" altLang="en-US" sz="1600" spc="-15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첫사용</a:t>
            </a:r>
            <a:endParaRPr lang="ko-KR" altLang="en-US" sz="1600" spc="-150" dirty="0">
              <a:solidFill>
                <a:schemeClr val="tx1">
                  <a:lumMod val="75000"/>
                  <a:lumOff val="2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C37EF6B-3202-4754-B1EC-FB247DDD2D11}"/>
              </a:ext>
            </a:extLst>
          </p:cNvPr>
          <p:cNvSpPr txBox="1"/>
          <p:nvPr/>
        </p:nvSpPr>
        <p:spPr>
          <a:xfrm>
            <a:off x="2719587" y="2954196"/>
            <a:ext cx="2385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테크핀은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en-US" altLang="ko-KR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IT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기업들이 주도하는 금융 서비스</a:t>
            </a:r>
            <a:endParaRPr lang="en-US" altLang="ko-KR" sz="1200" dirty="0">
              <a:solidFill>
                <a:schemeClr val="tx1">
                  <a:lumMod val="75000"/>
                  <a:lumOff val="25000"/>
                </a:schemeClr>
              </a:solidFill>
              <a:latin typeface="+mn-ea"/>
            </a:endParaRPr>
          </a:p>
          <a:p>
            <a:pPr algn="just"/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알리바바의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</a:t>
            </a:r>
            <a:r>
              <a:rPr lang="ko-KR" altLang="en-US" sz="120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마윈회장이</a:t>
            </a:r>
            <a:r>
              <a:rPr lang="ko-KR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 첫 사용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49EFD43C-E468-4B46-92B2-401ADAB1CC06}"/>
              </a:ext>
            </a:extLst>
          </p:cNvPr>
          <p:cNvSpPr txBox="1"/>
          <p:nvPr/>
        </p:nvSpPr>
        <p:spPr>
          <a:xfrm>
            <a:off x="224961" y="1307518"/>
            <a:ext cx="6870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핀테크란</a:t>
            </a:r>
            <a:r>
              <a:rPr lang="en-US" altLang="ko-KR" dirty="0"/>
              <a:t>? </a:t>
            </a:r>
            <a:r>
              <a:rPr lang="ko-KR" altLang="en-US" dirty="0"/>
              <a:t>금융</a:t>
            </a:r>
            <a:r>
              <a:rPr lang="en-US" altLang="ko-KR" dirty="0"/>
              <a:t>(Finance)</a:t>
            </a:r>
            <a:r>
              <a:rPr lang="ko-KR" altLang="en-US" dirty="0"/>
              <a:t> </a:t>
            </a:r>
            <a:r>
              <a:rPr lang="en-US" altLang="ko-KR" dirty="0"/>
              <a:t>+ </a:t>
            </a:r>
            <a:r>
              <a:rPr lang="ko-KR" altLang="en-US" dirty="0"/>
              <a:t>기술</a:t>
            </a:r>
            <a:r>
              <a:rPr lang="en-US" altLang="ko-KR" dirty="0"/>
              <a:t>(Technology) </a:t>
            </a:r>
            <a:endParaRPr lang="ko-KR" altLang="en-US" dirty="0"/>
          </a:p>
        </p:txBody>
      </p:sp>
      <p:sp>
        <p:nvSpPr>
          <p:cNvPr id="17" name="사각형: 둥근 대각선 방향 모서리 16">
            <a:extLst>
              <a:ext uri="{FF2B5EF4-FFF2-40B4-BE49-F238E27FC236}">
                <a16:creationId xmlns:a16="http://schemas.microsoft.com/office/drawing/2014/main" id="{39844623-D624-4A02-B90A-429120DDEB02}"/>
              </a:ext>
            </a:extLst>
          </p:cNvPr>
          <p:cNvSpPr/>
          <p:nvPr/>
        </p:nvSpPr>
        <p:spPr>
          <a:xfrm>
            <a:off x="6504891" y="1798719"/>
            <a:ext cx="5500649" cy="4930944"/>
          </a:xfrm>
          <a:prstGeom prst="round2Diag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F237F5-BE68-4AC3-99CF-715D4D728444}"/>
              </a:ext>
            </a:extLst>
          </p:cNvPr>
          <p:cNvSpPr txBox="1"/>
          <p:nvPr/>
        </p:nvSpPr>
        <p:spPr>
          <a:xfrm>
            <a:off x="6504891" y="1355643"/>
            <a:ext cx="36993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/>
              <a:t>발전 방향 및 전망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07E09C4-A5E4-4638-A7F1-248CFACB4739}"/>
              </a:ext>
            </a:extLst>
          </p:cNvPr>
          <p:cNvSpPr txBox="1"/>
          <p:nvPr/>
        </p:nvSpPr>
        <p:spPr>
          <a:xfrm>
            <a:off x="6795435" y="1913275"/>
            <a:ext cx="4995512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은행을 </a:t>
            </a:r>
            <a:r>
              <a:rPr lang="ko-KR" altLang="en-US" b="1" u="sng" dirty="0"/>
              <a:t>대체하는 것이 아닌 은행을 보완해주는 것</a:t>
            </a:r>
            <a:r>
              <a:rPr lang="ko-KR" altLang="en-US" dirty="0"/>
              <a:t>이 지금의 실상</a:t>
            </a:r>
            <a:r>
              <a:rPr lang="en-US" altLang="ko-KR" dirty="0"/>
              <a:t> -&gt; </a:t>
            </a:r>
            <a:r>
              <a:rPr lang="ko-KR" altLang="en-US" dirty="0"/>
              <a:t>대출과 거래 등 </a:t>
            </a:r>
            <a:r>
              <a:rPr lang="ko-KR" altLang="en-US" dirty="0" err="1"/>
              <a:t>핀테크의</a:t>
            </a:r>
            <a:r>
              <a:rPr lang="ko-KR" altLang="en-US" dirty="0"/>
              <a:t> 영역이 확장 중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u="sng" dirty="0" err="1"/>
              <a:t>핀테크</a:t>
            </a:r>
            <a:r>
              <a:rPr lang="ko-KR" altLang="en-US" b="1" u="sng" dirty="0"/>
              <a:t> 분야가 성장한다고 은행의 역할과 책임이 줄어드는</a:t>
            </a:r>
            <a:r>
              <a:rPr lang="ko-KR" altLang="en-US" dirty="0"/>
              <a:t> 것이 아님 </a:t>
            </a:r>
            <a:r>
              <a:rPr lang="en-US" altLang="ko-KR" dirty="0"/>
              <a:t>-&gt; </a:t>
            </a:r>
            <a:r>
              <a:rPr lang="ko-KR" altLang="en-US" dirty="0"/>
              <a:t>은행은 덩치는 그대로</a:t>
            </a:r>
            <a:r>
              <a:rPr lang="en-US" altLang="ko-KR" dirty="0"/>
              <a:t>, </a:t>
            </a:r>
            <a:r>
              <a:rPr lang="ko-KR" altLang="en-US" dirty="0"/>
              <a:t>더 유연해지는 게 나아갈 방향이고</a:t>
            </a:r>
            <a:r>
              <a:rPr lang="en-US" altLang="ko-KR" dirty="0"/>
              <a:t>,</a:t>
            </a:r>
            <a:r>
              <a:rPr lang="ko-KR" altLang="en-US" b="1" u="sng" dirty="0"/>
              <a:t>그것을 돕는게 </a:t>
            </a:r>
            <a:r>
              <a:rPr lang="ko-KR" altLang="en-US" b="1" u="sng" dirty="0" err="1"/>
              <a:t>핀테크의</a:t>
            </a:r>
            <a:r>
              <a:rPr lang="ko-KR" altLang="en-US" b="1" u="sng" dirty="0"/>
              <a:t> 역할</a:t>
            </a:r>
            <a:endParaRPr lang="en-US" altLang="ko-K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u="sng" dirty="0" err="1"/>
              <a:t>핀테크가</a:t>
            </a:r>
            <a:r>
              <a:rPr lang="ko-KR" altLang="en-US" b="1" u="sng" dirty="0"/>
              <a:t> 영원히 은행에 종속될 거라 장담</a:t>
            </a:r>
            <a:r>
              <a:rPr lang="ko-KR" altLang="en-US" dirty="0"/>
              <a:t> </a:t>
            </a:r>
            <a:r>
              <a:rPr lang="en-US" altLang="ko-KR" dirty="0"/>
              <a:t>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b="1" u="sng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국내 </a:t>
            </a:r>
            <a:r>
              <a:rPr lang="ko-KR" altLang="en-US" dirty="0" err="1"/>
              <a:t>테크핀</a:t>
            </a:r>
            <a:r>
              <a:rPr lang="ko-KR" altLang="en-US" dirty="0"/>
              <a:t> 영역은 </a:t>
            </a:r>
            <a:r>
              <a:rPr lang="ko-KR" altLang="en-US" b="1" dirty="0"/>
              <a:t>친밀성과 기술력을 강점으로 금융업계에서 더욱 빠르게 발전이 예상</a:t>
            </a:r>
            <a:endParaRPr lang="en-US" altLang="ko-KR" b="1" u="sng" dirty="0"/>
          </a:p>
          <a:p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장기적으로 </a:t>
            </a:r>
            <a:r>
              <a:rPr lang="en-US" altLang="ko-KR" b="1" u="sng" dirty="0"/>
              <a:t>4</a:t>
            </a:r>
            <a:r>
              <a:rPr lang="ko-KR" altLang="en-US" b="1" u="sng" dirty="0"/>
              <a:t>차산업인 빅데이터와 인공지능 기술을 이용하여 전통적 금융시작에서 주도권을 가질 것으로 예상</a:t>
            </a:r>
            <a:endParaRPr lang="en-US" altLang="ko-KR" b="1" u="sng" dirty="0"/>
          </a:p>
          <a:p>
            <a:endParaRPr lang="en-US" altLang="ko-KR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B193F5C-F072-4875-8149-20AD950036A0}"/>
              </a:ext>
            </a:extLst>
          </p:cNvPr>
          <p:cNvSpPr txBox="1"/>
          <p:nvPr/>
        </p:nvSpPr>
        <p:spPr>
          <a:xfrm>
            <a:off x="224959" y="6421887"/>
            <a:ext cx="57559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★</a:t>
            </a:r>
            <a:r>
              <a:rPr lang="ko-KR" altLang="en-US" sz="1400" dirty="0" err="1"/>
              <a:t>핀테크</a:t>
            </a:r>
            <a:r>
              <a:rPr lang="en-US" altLang="ko-KR" sz="1400" dirty="0"/>
              <a:t>(</a:t>
            </a:r>
            <a:r>
              <a:rPr lang="ko-KR" altLang="en-US" sz="1400" dirty="0"/>
              <a:t>뿌리가 금융업</a:t>
            </a:r>
            <a:r>
              <a:rPr lang="en-US" altLang="ko-KR" sz="1400" dirty="0"/>
              <a:t>)</a:t>
            </a:r>
            <a:r>
              <a:rPr lang="ko-KR" altLang="en-US" sz="1400" dirty="0"/>
              <a:t>와 </a:t>
            </a:r>
            <a:r>
              <a:rPr lang="ko-KR" altLang="en-US" sz="1400" dirty="0" err="1"/>
              <a:t>테크핀</a:t>
            </a:r>
            <a:r>
              <a:rPr lang="en-US" altLang="ko-KR" sz="1400" dirty="0"/>
              <a:t>(IT</a:t>
            </a:r>
            <a:r>
              <a:rPr lang="ko-KR" altLang="en-US" sz="1400" dirty="0"/>
              <a:t>기업</a:t>
            </a:r>
            <a:r>
              <a:rPr lang="en-US" altLang="ko-KR" sz="1400" dirty="0"/>
              <a:t>)</a:t>
            </a:r>
            <a:r>
              <a:rPr lang="ko-KR" altLang="en-US" sz="1400" dirty="0"/>
              <a:t>은 일반적으로 구별 안함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B9172C-6321-40E3-BF86-00D47A51E8FA}"/>
              </a:ext>
            </a:extLst>
          </p:cNvPr>
          <p:cNvSpPr txBox="1"/>
          <p:nvPr/>
        </p:nvSpPr>
        <p:spPr>
          <a:xfrm>
            <a:off x="218291" y="1773100"/>
            <a:ext cx="5160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핀테크의</a:t>
            </a:r>
            <a:r>
              <a:rPr lang="ko-KR" altLang="en-US" dirty="0"/>
              <a:t> 등장</a:t>
            </a:r>
          </a:p>
        </p:txBody>
      </p:sp>
    </p:spTree>
    <p:extLst>
      <p:ext uri="{BB962C8B-B14F-4D97-AF65-F5344CB8AC3E}">
        <p14:creationId xmlns:p14="http://schemas.microsoft.com/office/powerpoint/2010/main" val="3939749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64207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 </a:t>
            </a:r>
            <a:r>
              <a:rPr lang="ko-KR" altLang="en-US" sz="4000" spc="-300" dirty="0"/>
              <a:t>상황분석 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050076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748715"/>
            <a:ext cx="201850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산업 환경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  <a:endParaRPr lang="ko-KR" altLang="en-US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B6948899-73AE-42EC-9E49-37598F2F9DBC}"/>
              </a:ext>
            </a:extLst>
          </p:cNvPr>
          <p:cNvSpPr/>
          <p:nvPr/>
        </p:nvSpPr>
        <p:spPr>
          <a:xfrm>
            <a:off x="144383" y="1416986"/>
            <a:ext cx="5299241" cy="1875999"/>
          </a:xfrm>
          <a:prstGeom prst="roundRect">
            <a:avLst/>
          </a:prstGeom>
          <a:ln>
            <a:solidFill>
              <a:srgbClr val="00206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삼성금융에서 제공하지 않았던 계좌통합관리</a:t>
            </a:r>
            <a:r>
              <a:rPr lang="en-US" altLang="ko-KR" sz="1600" dirty="0"/>
              <a:t>, </a:t>
            </a:r>
            <a:r>
              <a:rPr lang="ko-KR" altLang="en-US" sz="1600" dirty="0"/>
              <a:t>간편송금</a:t>
            </a:r>
            <a:r>
              <a:rPr lang="en-US" altLang="ko-KR" sz="1600" dirty="0"/>
              <a:t>, </a:t>
            </a:r>
            <a:r>
              <a:rPr lang="ko-KR" altLang="en-US" sz="1600" dirty="0"/>
              <a:t>신용관리 등 종합금융 서비스와 전용 금융 상품도 제공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향후 </a:t>
            </a:r>
            <a:r>
              <a:rPr lang="ko-KR" altLang="en-US" sz="1600" b="1" u="sng" dirty="0"/>
              <a:t>삼성페이와 연계하게 </a:t>
            </a:r>
            <a:r>
              <a:rPr lang="ko-KR" altLang="en-US" sz="1600" dirty="0"/>
              <a:t>될 경우 간편 결제 시장에서 </a:t>
            </a:r>
            <a:r>
              <a:rPr lang="ko-KR" altLang="en-US" sz="1600" b="1" u="sng" dirty="0"/>
              <a:t>시너지가 클 것이라고 전망</a:t>
            </a:r>
            <a:endParaRPr lang="en-US" altLang="ko-KR" sz="1600" b="1" u="sng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ko-KR" altLang="en-US" sz="1600" dirty="0"/>
              <a:t>하지만 </a:t>
            </a:r>
            <a:r>
              <a:rPr lang="ko-KR" altLang="en-US" sz="1600" b="1" dirty="0" err="1"/>
              <a:t>마이데이터</a:t>
            </a:r>
            <a:r>
              <a:rPr lang="ko-KR" altLang="en-US" sz="1600" b="1" dirty="0"/>
              <a:t> 서비스를 사용불가 </a:t>
            </a:r>
            <a:r>
              <a:rPr lang="ko-KR" altLang="en-US" sz="1600" dirty="0"/>
              <a:t>경고를 받아 </a:t>
            </a:r>
            <a:r>
              <a:rPr lang="en-US" altLang="ko-KR" sz="1600" dirty="0"/>
              <a:t>1</a:t>
            </a:r>
            <a:r>
              <a:rPr lang="ko-KR" altLang="en-US" sz="1600" dirty="0"/>
              <a:t>년 동안 신규 사업 허가 불가</a:t>
            </a:r>
            <a:endParaRPr lang="en-US" altLang="ko-KR" sz="16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449026-C3E7-43A9-91CF-C9B76D5C4CB7}"/>
              </a:ext>
            </a:extLst>
          </p:cNvPr>
          <p:cNvSpPr txBox="1"/>
          <p:nvPr/>
        </p:nvSpPr>
        <p:spPr>
          <a:xfrm>
            <a:off x="295162" y="1047641"/>
            <a:ext cx="5432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새로운 경쟁사 </a:t>
            </a:r>
            <a:r>
              <a:rPr lang="ko-KR" altLang="en-US" b="1" dirty="0"/>
              <a:t>삼성 </a:t>
            </a:r>
            <a:r>
              <a:rPr lang="ko-KR" altLang="en-US" b="1" dirty="0" err="1"/>
              <a:t>금융앱</a:t>
            </a:r>
            <a:r>
              <a:rPr lang="ko-KR" altLang="en-US" b="1" dirty="0"/>
              <a:t> </a:t>
            </a:r>
            <a:r>
              <a:rPr lang="en-US" altLang="ko-KR" b="1" dirty="0"/>
              <a:t>‘</a:t>
            </a:r>
            <a:r>
              <a:rPr lang="ko-KR" altLang="en-US" b="1" dirty="0" err="1"/>
              <a:t>모니모</a:t>
            </a:r>
            <a:r>
              <a:rPr lang="en-US" altLang="ko-KR" b="1" dirty="0"/>
              <a:t>‘ </a:t>
            </a:r>
            <a:r>
              <a:rPr lang="ko-KR" altLang="en-US" b="1" dirty="0"/>
              <a:t>출범</a:t>
            </a:r>
            <a:r>
              <a:rPr lang="en-US" altLang="ko-KR" dirty="0"/>
              <a:t>(22.4.14)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CABB27-7ED2-4AC9-BC9B-9D119B974235}"/>
              </a:ext>
            </a:extLst>
          </p:cNvPr>
          <p:cNvSpPr txBox="1"/>
          <p:nvPr/>
        </p:nvSpPr>
        <p:spPr>
          <a:xfrm>
            <a:off x="343288" y="3347005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소비자 </a:t>
            </a:r>
            <a:r>
              <a:rPr lang="en-US" altLang="ko-KR" dirty="0"/>
              <a:t>(2019</a:t>
            </a:r>
            <a:r>
              <a:rPr lang="ko-KR" altLang="en-US" dirty="0"/>
              <a:t>년 기준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C5B9970B-D6AB-4284-9F1A-CB826A0461F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759" y="3743688"/>
            <a:ext cx="4379494" cy="275023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B1E68C23-680D-4058-9D71-7635759AC80C}"/>
              </a:ext>
            </a:extLst>
          </p:cNvPr>
          <p:cNvSpPr txBox="1"/>
          <p:nvPr/>
        </p:nvSpPr>
        <p:spPr>
          <a:xfrm>
            <a:off x="6294922" y="1057271"/>
            <a:ext cx="53298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고객</a:t>
            </a:r>
            <a:r>
              <a:rPr lang="en-US" altLang="ko-KR" dirty="0"/>
              <a:t>/</a:t>
            </a:r>
            <a:r>
              <a:rPr lang="ko-KR" altLang="en-US" dirty="0"/>
              <a:t>시장 트렌드 </a:t>
            </a:r>
            <a:r>
              <a:rPr lang="en-US" altLang="ko-KR" dirty="0"/>
              <a:t>(2030</a:t>
            </a:r>
            <a:r>
              <a:rPr lang="ko-KR" altLang="en-US" dirty="0"/>
              <a:t>세대에 맞춘 전략</a:t>
            </a:r>
            <a:r>
              <a:rPr lang="en-US" altLang="ko-KR" dirty="0"/>
              <a:t>) 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E48FCFDC-3A16-4C26-91A1-88ABE26E6608}"/>
              </a:ext>
            </a:extLst>
          </p:cNvPr>
          <p:cNvSpPr/>
          <p:nvPr/>
        </p:nvSpPr>
        <p:spPr>
          <a:xfrm>
            <a:off x="6294922" y="1409157"/>
            <a:ext cx="5752695" cy="2019844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7C3C094-99CF-4785-9904-5C79AB62FD32}"/>
              </a:ext>
            </a:extLst>
          </p:cNvPr>
          <p:cNvSpPr txBox="1"/>
          <p:nvPr/>
        </p:nvSpPr>
        <p:spPr>
          <a:xfrm>
            <a:off x="6197068" y="1416970"/>
            <a:ext cx="599493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u="sng" dirty="0"/>
              <a:t>빅데이터 분석 차별화로 </a:t>
            </a:r>
            <a:r>
              <a:rPr lang="ko-KR" altLang="en-US" sz="1600" b="1" u="sng" dirty="0" err="1"/>
              <a:t>저신용자</a:t>
            </a:r>
            <a:r>
              <a:rPr lang="ko-KR" altLang="en-US" sz="1600" b="1" u="sng" dirty="0"/>
              <a:t> 대출</a:t>
            </a:r>
            <a:r>
              <a:rPr lang="ko-KR" altLang="en-US" sz="1600" dirty="0"/>
              <a:t>이 가능하게끔 노력 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토스증권과 토스뱅크를 같이 사용할 수 있는 </a:t>
            </a:r>
            <a:r>
              <a:rPr lang="en-US" altLang="ko-KR" sz="1600" b="1" u="sng" dirty="0"/>
              <a:t>‘</a:t>
            </a:r>
            <a:r>
              <a:rPr lang="ko-KR" altLang="en-US" sz="1600" b="1" u="sng" dirty="0" err="1"/>
              <a:t>원앱</a:t>
            </a:r>
            <a:r>
              <a:rPr lang="en-US" altLang="ko-KR" sz="1600" b="1" u="sng" dirty="0"/>
              <a:t>’</a:t>
            </a:r>
            <a:r>
              <a:rPr lang="ko-KR" altLang="en-US" sz="1600" b="1" u="sng" dirty="0"/>
              <a:t> 전략 성공</a:t>
            </a:r>
            <a:endParaRPr lang="en-US" altLang="ko-KR" sz="1600" b="1" u="sng" dirty="0"/>
          </a:p>
          <a:p>
            <a:r>
              <a:rPr lang="ko-KR" altLang="en-US" sz="1600" dirty="0"/>
              <a:t>     </a:t>
            </a:r>
            <a:r>
              <a:rPr lang="en-US" altLang="ko-KR" sz="1600" dirty="0"/>
              <a:t>- </a:t>
            </a:r>
            <a:r>
              <a:rPr lang="ko-KR" altLang="en-US" sz="1600" dirty="0"/>
              <a:t>그간 금융업에서는 여러 앱을 설치하는 </a:t>
            </a:r>
            <a:r>
              <a:rPr lang="en-US" altLang="ko-KR" sz="1600" b="1" u="sng" dirty="0"/>
              <a:t>‘</a:t>
            </a:r>
            <a:r>
              <a:rPr lang="ko-KR" altLang="en-US" sz="1600" b="1" u="sng" dirty="0" err="1"/>
              <a:t>멀티앱</a:t>
            </a:r>
            <a:r>
              <a:rPr lang="en-US" altLang="ko-KR" sz="1600" b="1" u="sng" dirty="0"/>
              <a:t>’</a:t>
            </a:r>
            <a:r>
              <a:rPr lang="ko-KR" altLang="en-US" sz="1600" b="1" u="sng" dirty="0"/>
              <a:t> 전략</a:t>
            </a:r>
            <a:endParaRPr lang="en-US" altLang="ko-KR" sz="1600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dirty="0"/>
              <a:t>주식 투자 초보자도 쉽게 이해 </a:t>
            </a:r>
            <a:r>
              <a:rPr lang="ko-KR" altLang="en-US" sz="1600" dirty="0"/>
              <a:t>할 수 있도록 </a:t>
            </a:r>
            <a:r>
              <a:rPr lang="ko-KR" altLang="en-US" sz="1600" b="1" u="sng" dirty="0"/>
              <a:t>쉬운 단어를 </a:t>
            </a:r>
            <a:r>
              <a:rPr lang="ko-KR" altLang="en-US" sz="1600" dirty="0"/>
              <a:t>활용한 전략이 효과적</a:t>
            </a:r>
            <a:r>
              <a:rPr lang="en-US" altLang="ko-KR" sz="1600" dirty="0"/>
              <a:t>, </a:t>
            </a:r>
            <a:r>
              <a:rPr lang="ko-KR" altLang="en-US" sz="1600" b="1" u="sng" dirty="0"/>
              <a:t>주식 무료 나눔을 </a:t>
            </a:r>
            <a:r>
              <a:rPr lang="ko-KR" altLang="en-US" sz="1600" dirty="0"/>
              <a:t>통해 관심을 모음</a:t>
            </a:r>
            <a:endParaRPr lang="en-US" altLang="ko-KR" sz="16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dirty="0"/>
              <a:t>포인트</a:t>
            </a:r>
            <a:r>
              <a:rPr lang="en-US" altLang="ko-KR" sz="1600" dirty="0"/>
              <a:t>(</a:t>
            </a:r>
            <a:r>
              <a:rPr lang="ko-KR" altLang="en-US" sz="1600" dirty="0"/>
              <a:t>미션을 통한 포인트적립</a:t>
            </a:r>
            <a:r>
              <a:rPr lang="en-US" altLang="ko-KR" sz="1600" dirty="0"/>
              <a:t>) , </a:t>
            </a:r>
            <a:r>
              <a:rPr lang="ko-KR" altLang="en-US" sz="1600" dirty="0"/>
              <a:t>쪼개기 투자</a:t>
            </a:r>
            <a:r>
              <a:rPr lang="en-US" altLang="ko-KR" sz="1600" dirty="0"/>
              <a:t>(1000</a:t>
            </a:r>
            <a:r>
              <a:rPr lang="ko-KR" altLang="en-US" sz="1600" dirty="0"/>
              <a:t>원단위</a:t>
            </a:r>
            <a:r>
              <a:rPr lang="en-US" altLang="ko-KR" sz="1600" dirty="0"/>
              <a:t>), </a:t>
            </a:r>
            <a:r>
              <a:rPr lang="ko-KR" altLang="en-US" sz="1600" dirty="0"/>
              <a:t>잔돈 재테크로 </a:t>
            </a:r>
            <a:r>
              <a:rPr lang="ko-KR" altLang="en-US" sz="1600" b="1" u="sng" dirty="0"/>
              <a:t>소액으로 투자하는 것에 </a:t>
            </a:r>
            <a:r>
              <a:rPr lang="en-US" altLang="ko-KR" sz="1600" b="1" u="sng" dirty="0"/>
              <a:t>MZ</a:t>
            </a:r>
            <a:r>
              <a:rPr lang="ko-KR" altLang="en-US" sz="1600" b="1" u="sng" dirty="0"/>
              <a:t>세대가 관심 많음 </a:t>
            </a:r>
            <a:endParaRPr lang="en-US" altLang="ko-KR" sz="1600" b="1" u="sng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ko-KR" altLang="en-US" sz="1600" b="1" u="sng" dirty="0"/>
              <a:t>평생 무료 송금 정책을 </a:t>
            </a:r>
            <a:r>
              <a:rPr lang="ko-KR" altLang="en-US" sz="1600" dirty="0"/>
              <a:t>도입하여 </a:t>
            </a:r>
            <a:r>
              <a:rPr lang="ko-KR" altLang="en-US" sz="1600" b="1" u="sng" dirty="0"/>
              <a:t>소비자 만족도를 </a:t>
            </a:r>
            <a:r>
              <a:rPr lang="ko-KR" altLang="en-US" sz="1600" dirty="0"/>
              <a:t>올림</a:t>
            </a:r>
            <a:endParaRPr lang="en-US" altLang="ko-KR" sz="1600" dirty="0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AEC560AA-951B-4650-92CB-C645497A3A1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264" y="3711079"/>
            <a:ext cx="5238009" cy="2743178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4D040E5E-2B8C-4797-AC46-C3D2A67DBF39}"/>
              </a:ext>
            </a:extLst>
          </p:cNvPr>
          <p:cNvSpPr txBox="1"/>
          <p:nvPr/>
        </p:nvSpPr>
        <p:spPr>
          <a:xfrm>
            <a:off x="94589" y="6499256"/>
            <a:ext cx="6065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토스가 </a:t>
            </a:r>
            <a:r>
              <a:rPr lang="en-US" altLang="ko-KR" sz="1600" dirty="0"/>
              <a:t>1020</a:t>
            </a:r>
            <a:r>
              <a:rPr lang="ko-KR" altLang="en-US" sz="1600" dirty="0"/>
              <a:t>세대에서는 압도적 인기 </a:t>
            </a:r>
            <a:r>
              <a:rPr lang="en-US" altLang="ko-KR" sz="1600" dirty="0"/>
              <a:t>3040</a:t>
            </a:r>
            <a:r>
              <a:rPr lang="ko-KR" altLang="en-US" sz="1600" dirty="0"/>
              <a:t>세대에도 인기  </a:t>
            </a:r>
          </a:p>
        </p:txBody>
      </p:sp>
      <p:sp>
        <p:nvSpPr>
          <p:cNvPr id="36" name="화살표: 오른쪽 35">
            <a:extLst>
              <a:ext uri="{FF2B5EF4-FFF2-40B4-BE49-F238E27FC236}">
                <a16:creationId xmlns:a16="http://schemas.microsoft.com/office/drawing/2014/main" id="{CE3E6999-0B96-4F41-9E16-2B6CA8C53B04}"/>
              </a:ext>
            </a:extLst>
          </p:cNvPr>
          <p:cNvSpPr/>
          <p:nvPr/>
        </p:nvSpPr>
        <p:spPr>
          <a:xfrm>
            <a:off x="4949324" y="4581625"/>
            <a:ext cx="1321869" cy="1062671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F1E4B848-84BF-440D-82A1-1917AE715173}"/>
              </a:ext>
            </a:extLst>
          </p:cNvPr>
          <p:cNvSpPr/>
          <p:nvPr/>
        </p:nvSpPr>
        <p:spPr>
          <a:xfrm>
            <a:off x="8893743" y="3429000"/>
            <a:ext cx="394636" cy="287337"/>
          </a:xfrm>
          <a:prstGeom prst="downArrow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3CF44FD-8D9F-4204-9258-02C8DD70DD1D}"/>
              </a:ext>
            </a:extLst>
          </p:cNvPr>
          <p:cNvSpPr txBox="1"/>
          <p:nvPr/>
        </p:nvSpPr>
        <p:spPr>
          <a:xfrm>
            <a:off x="6552264" y="6454257"/>
            <a:ext cx="56397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/>
              <a:t>소비자 중심의 정책을 </a:t>
            </a:r>
            <a:r>
              <a:rPr lang="ko-KR" altLang="en-US" dirty="0"/>
              <a:t>펼쳐 토스가 업계 </a:t>
            </a:r>
            <a:r>
              <a:rPr lang="en-US" altLang="ko-KR" dirty="0"/>
              <a:t>1</a:t>
            </a:r>
            <a:r>
              <a:rPr lang="ko-KR" altLang="en-US" dirty="0"/>
              <a:t>위를 달성   </a:t>
            </a:r>
          </a:p>
        </p:txBody>
      </p:sp>
    </p:spTree>
    <p:extLst>
      <p:ext uri="{BB962C8B-B14F-4D97-AF65-F5344CB8AC3E}">
        <p14:creationId xmlns:p14="http://schemas.microsoft.com/office/powerpoint/2010/main" val="2021396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2. </a:t>
            </a:r>
            <a:r>
              <a:rPr lang="ko-KR" altLang="en-US" sz="4000" spc="-300" dirty="0"/>
              <a:t>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799818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EB7A843-E4E5-4241-B09E-B20C4EADE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469402"/>
              </p:ext>
            </p:extLst>
          </p:nvPr>
        </p:nvGraphicFramePr>
        <p:xfrm>
          <a:off x="497669" y="856398"/>
          <a:ext cx="11527606" cy="60290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88740">
                  <a:extLst>
                    <a:ext uri="{9D8B030D-6E8A-4147-A177-3AD203B41FA5}">
                      <a16:colId xmlns:a16="http://schemas.microsoft.com/office/drawing/2014/main" val="3771033157"/>
                    </a:ext>
                  </a:extLst>
                </a:gridCol>
                <a:gridCol w="3386694">
                  <a:extLst>
                    <a:ext uri="{9D8B030D-6E8A-4147-A177-3AD203B41FA5}">
                      <a16:colId xmlns:a16="http://schemas.microsoft.com/office/drawing/2014/main" val="2748037351"/>
                    </a:ext>
                  </a:extLst>
                </a:gridCol>
                <a:gridCol w="3172550">
                  <a:extLst>
                    <a:ext uri="{9D8B030D-6E8A-4147-A177-3AD203B41FA5}">
                      <a16:colId xmlns:a16="http://schemas.microsoft.com/office/drawing/2014/main" val="820828031"/>
                    </a:ext>
                  </a:extLst>
                </a:gridCol>
                <a:gridCol w="3279622">
                  <a:extLst>
                    <a:ext uri="{9D8B030D-6E8A-4147-A177-3AD203B41FA5}">
                      <a16:colId xmlns:a16="http://schemas.microsoft.com/office/drawing/2014/main" val="1382983538"/>
                    </a:ext>
                  </a:extLst>
                </a:gridCol>
              </a:tblGrid>
              <a:tr h="4756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카카오페이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네이버페이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j-ea"/>
                          <a:ea typeface="+mj-ea"/>
                        </a:rPr>
                        <a:t>삼성페이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0703200"/>
                  </a:ext>
                </a:extLst>
              </a:tr>
              <a:tr h="6539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제조사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카카오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를 모기업으로 출시된              간편결제 서비스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-150" dirty="0" err="1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네이버파이낸셜</a:t>
                      </a:r>
                      <a:r>
                        <a:rPr lang="ko-KR" altLang="en-US" sz="1600" spc="-150" dirty="0" err="1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에서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제공하는       </a:t>
                      </a:r>
                      <a:r>
                        <a:rPr lang="ko-KR" altLang="en-US" sz="1600" spc="-150" dirty="0" err="1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핀테크의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일종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삼성전자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에서 만든 모바일 결제       서비스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0200448"/>
                  </a:ext>
                </a:extLst>
              </a:tr>
              <a:tr h="57965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서비스 방식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간편 결제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송금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청구서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인증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멤버십 연동 등 다양한 서비스 제공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은행 계좌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카드를 미리 등록하여 결제하는 간편 결제 서비스 제공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스마트폰에 계좌나 카드를 등록해 사용 가능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MST(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마그네틱 보안전송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을 통한 결제 방식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2358619"/>
                  </a:ext>
                </a:extLst>
              </a:tr>
              <a:tr h="68186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핵심경쟁력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카카오 브랜드 파워 및 카카오톡 플랫폼 연계로 강력한 입지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온라인에 특화된 간편 결제   서비스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ko-KR" alt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실물 카드를 꺼낼 필요 없이  편리 하게 결제 가능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1006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이용자수</a:t>
                      </a:r>
                      <a:endParaRPr lang="en-US" altLang="ko-KR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2020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년 기준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누적 이용자 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3500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누적 이용자 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2800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누적 이용자 </a:t>
                      </a:r>
                      <a:r>
                        <a:rPr lang="en-US" altLang="ko-KR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1900</a:t>
                      </a:r>
                      <a:r>
                        <a:rPr lang="ko-KR" altLang="en-US" sz="16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만 명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396960"/>
                  </a:ext>
                </a:extLst>
              </a:tr>
              <a:tr h="81424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단점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네이버 쇼핑에서 결제가 안됨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,</a:t>
                      </a:r>
                    </a:p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카카오톡과 카카오페이 어플 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개 존재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접근성이 낮음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)</a:t>
                      </a:r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오프라인 결제가 불편함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포인트     적립은 쉽지만 사용할 수 있는 곳이   제한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삼성페이 기능이 지원되는 스마트폰에서만 사용이 가능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스마트폰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배터리 소모가 빠름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289467"/>
                  </a:ext>
                </a:extLst>
              </a:tr>
              <a:tr h="68186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토스와 차이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카카오톡에서 계좌번호로 바로 송금이 가능하듯이 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강력한 플랫폼의 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힘이 존재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검색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쇼핑</a:t>
                      </a:r>
                      <a:r>
                        <a:rPr lang="en-US" altLang="ko-KR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-&gt;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결제로  네이버쇼핑과의 연계로 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온라인에 특화된 서비스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카드와 지갑이 필요가 없어 </a:t>
                      </a:r>
                      <a:r>
                        <a:rPr lang="ko-KR" altLang="en-US" sz="1600" b="1" i="0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오프라인에서 많은 사람들</a:t>
                      </a:r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이 많이 사용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7341174"/>
                  </a:ext>
                </a:extLst>
              </a:tr>
              <a:tr h="80673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분석</a:t>
                      </a:r>
                    </a:p>
                  </a:txBody>
                  <a:tcPr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다른 경쟁사들 모두 대기업을 기반으로 각자만의 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뚜렷한 개성을 가지고 그에 맞는 정책과 차별성으로 경쟁하여 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고객들을 모으고 있다</a:t>
                      </a:r>
                      <a:r>
                        <a:rPr lang="en-US" altLang="ko-KR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.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꾸준히 다른 곳에는 없는 새롭고 </a:t>
                      </a:r>
                      <a:r>
                        <a:rPr lang="ko-KR" altLang="en-US" sz="1600" b="1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차별성을 가진 상품과 새로운 시장에 도전하지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않으면 도태되어 경쟁력이 떨어져 경쟁사들에게 점유율이 따라 잡힐 수 있다</a:t>
                      </a:r>
                      <a:r>
                        <a:rPr lang="en-US" altLang="ko-KR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그에 대비하기 위해 미래의 중심인 </a:t>
                      </a:r>
                      <a:r>
                        <a:rPr lang="en-US" altLang="ko-KR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MZ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세대의 마음을</a:t>
                      </a:r>
                      <a:r>
                        <a:rPr lang="ko-KR" altLang="en-US" sz="1600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얻을 필요가 있으며 상대적으로 사용자 수가 낮은 </a:t>
                      </a:r>
                      <a:r>
                        <a:rPr lang="en-US" altLang="ko-KR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40~60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세대의 시선을 모을 방법을 모색</a:t>
                      </a:r>
                      <a:r>
                        <a:rPr lang="ko-KR" altLang="en-US" sz="1600" b="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해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야 한다</a:t>
                      </a:r>
                      <a:r>
                        <a:rPr lang="en-US" altLang="ko-KR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또한 빅데이터와 </a:t>
                      </a:r>
                      <a:r>
                        <a:rPr lang="en-US" altLang="ko-KR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AI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기술을 활용하여 고객들 상황에  알맞은 상품의 추천과 더욱 간편하고 편리해진 </a:t>
                      </a:r>
                      <a:r>
                        <a:rPr lang="ko-KR" altLang="en-US" sz="1600" b="1" u="sng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차별화된 서비스를</a:t>
                      </a:r>
                      <a:r>
                        <a:rPr lang="ko-KR" altLang="en-US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 할 수 있도록 노력해야 한다</a:t>
                      </a:r>
                      <a:r>
                        <a:rPr lang="en-US" altLang="ko-KR" sz="1600" u="none" spc="-150" dirty="0">
                          <a:solidFill>
                            <a:srgbClr val="40474D"/>
                          </a:solidFill>
                          <a:latin typeface="+mn-ea"/>
                          <a:ea typeface="+mn-ea"/>
                        </a:rPr>
                        <a:t>.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b="1" u="sng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600" spc="-150" dirty="0">
                        <a:solidFill>
                          <a:srgbClr val="40474D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653358"/>
                  </a:ext>
                </a:extLst>
              </a:tr>
            </a:tbl>
          </a:graphicData>
        </a:graphic>
      </p:graphicFrame>
      <p:pic>
        <p:nvPicPr>
          <p:cNvPr id="11" name="그림 10">
            <a:extLst>
              <a:ext uri="{FF2B5EF4-FFF2-40B4-BE49-F238E27FC236}">
                <a16:creationId xmlns:a16="http://schemas.microsoft.com/office/drawing/2014/main" id="{56067517-C1CF-4367-B2CD-B1FBF94F836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4258" y="856395"/>
            <a:ext cx="441275" cy="46109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40458548-A416-4928-AB00-CB5312A8AF7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7916" y="856391"/>
            <a:ext cx="441275" cy="461095"/>
          </a:xfrm>
          <a:prstGeom prst="rect">
            <a:avLst/>
          </a:prstGeom>
        </p:spPr>
      </p:pic>
      <p:pic>
        <p:nvPicPr>
          <p:cNvPr id="17" name="그림 16" descr="텍스트, 클립아트, 벡터그래픽이(가) 표시된 사진&#10;&#10;자동 생성된 설명">
            <a:extLst>
              <a:ext uri="{FF2B5EF4-FFF2-40B4-BE49-F238E27FC236}">
                <a16:creationId xmlns:a16="http://schemas.microsoft.com/office/drawing/2014/main" id="{96A08844-436F-48CA-974A-63BF14E46F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2698" y="856398"/>
            <a:ext cx="441275" cy="4610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A780FC9-CA1A-4DE1-B419-35BF3DF65E3F}"/>
              </a:ext>
            </a:extLst>
          </p:cNvPr>
          <p:cNvSpPr txBox="1"/>
          <p:nvPr/>
        </p:nvSpPr>
        <p:spPr>
          <a:xfrm>
            <a:off x="-117884" y="799818"/>
            <a:ext cx="615553" cy="395598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외부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경쟁 환경 분석</a:t>
            </a:r>
          </a:p>
          <a:p>
            <a:r>
              <a:rPr lang="ko-KR" altLang="en-US" sz="1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100353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3. </a:t>
            </a:r>
            <a:r>
              <a:rPr lang="ko-KR" altLang="en-US" sz="4000" spc="-300" dirty="0"/>
              <a:t>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827518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15199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내부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자원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00BE653E-93D5-4791-80AB-684AEC48926D}"/>
              </a:ext>
            </a:extLst>
          </p:cNvPr>
          <p:cNvSpPr/>
          <p:nvPr/>
        </p:nvSpPr>
        <p:spPr>
          <a:xfrm>
            <a:off x="2364576" y="1245551"/>
            <a:ext cx="1778052" cy="6953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390A8F7-F65A-40E5-9EF9-E786D7A2F7D3}"/>
              </a:ext>
            </a:extLst>
          </p:cNvPr>
          <p:cNvSpPr/>
          <p:nvPr/>
        </p:nvSpPr>
        <p:spPr>
          <a:xfrm>
            <a:off x="419213" y="1973177"/>
            <a:ext cx="5542036" cy="3801981"/>
          </a:xfrm>
          <a:prstGeom prst="rect">
            <a:avLst/>
          </a:prstGeom>
          <a:solidFill>
            <a:schemeClr val="accent5"/>
          </a:solidFill>
          <a:ln>
            <a:solidFill>
              <a:schemeClr val="accent6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5CC1E6C5-2346-4061-8895-39D261E96F30}"/>
              </a:ext>
            </a:extLst>
          </p:cNvPr>
          <p:cNvSpPr/>
          <p:nvPr/>
        </p:nvSpPr>
        <p:spPr>
          <a:xfrm>
            <a:off x="6660683" y="1969579"/>
            <a:ext cx="5419022" cy="4501806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DBFE5F0-A2D4-4914-A216-17E28D11BFDC}"/>
              </a:ext>
            </a:extLst>
          </p:cNvPr>
          <p:cNvSpPr txBox="1"/>
          <p:nvPr/>
        </p:nvSpPr>
        <p:spPr>
          <a:xfrm>
            <a:off x="2364577" y="1300859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유형 자원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54034BF-9B31-40DC-8F4A-FBF2A3DD12A6}"/>
              </a:ext>
            </a:extLst>
          </p:cNvPr>
          <p:cNvSpPr txBox="1"/>
          <p:nvPr/>
        </p:nvSpPr>
        <p:spPr>
          <a:xfrm>
            <a:off x="542228" y="2069426"/>
            <a:ext cx="541902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누적 투자금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(2022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기준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 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 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조 이상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자본금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(2021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기준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 : 326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예수금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부채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2019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1,361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2020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1,319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 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-&gt; 2020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년에는 가입자 수가 다소 정체 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매출액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(2021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기준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2,290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 원 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영업이익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(2021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기준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- 374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 원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총 자산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(2021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년 기준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 </a:t>
            </a:r>
            <a:r>
              <a:rPr lang="en-US" altLang="ko-KR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9,233</a:t>
            </a:r>
            <a:r>
              <a:rPr lang="ko-KR" altLang="en-US" sz="20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억 원</a:t>
            </a:r>
            <a:endParaRPr lang="en-US" altLang="ko-KR" sz="2000" spc="-300" dirty="0">
              <a:solidFill>
                <a:schemeClr val="tx1">
                  <a:lumMod val="65000"/>
                  <a:lumOff val="35000"/>
                </a:schemeClr>
              </a:solidFill>
              <a:latin typeface="+mj-ea"/>
              <a:ea typeface="+mj-ea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7DFC311-4134-4609-B085-1CA590261FA3}"/>
              </a:ext>
            </a:extLst>
          </p:cNvPr>
          <p:cNvSpPr txBox="1"/>
          <p:nvPr/>
        </p:nvSpPr>
        <p:spPr>
          <a:xfrm>
            <a:off x="8362757" y="2103639"/>
            <a:ext cx="25795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24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로고 </a:t>
            </a:r>
            <a:r>
              <a:rPr lang="en-US" altLang="ko-KR" sz="24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: </a:t>
            </a:r>
            <a:r>
              <a:rPr lang="ko-KR" altLang="en-US" sz="24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직관성이 좋다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8B281E7B-024D-4F8B-9306-77DC17A664EC}"/>
              </a:ext>
            </a:extLst>
          </p:cNvPr>
          <p:cNvSpPr/>
          <p:nvPr/>
        </p:nvSpPr>
        <p:spPr>
          <a:xfrm>
            <a:off x="8099644" y="1253573"/>
            <a:ext cx="1778052" cy="69539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87E30A8-5299-4B1A-A834-E3F43AE78981}"/>
              </a:ext>
            </a:extLst>
          </p:cNvPr>
          <p:cNvSpPr txBox="1"/>
          <p:nvPr/>
        </p:nvSpPr>
        <p:spPr>
          <a:xfrm>
            <a:off x="8099645" y="1308881"/>
            <a:ext cx="177805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3200" spc="-300" dirty="0">
                <a:solidFill>
                  <a:schemeClr val="tx1">
                    <a:lumMod val="65000"/>
                    <a:lumOff val="35000"/>
                  </a:schemeClr>
                </a:solidFill>
                <a:latin typeface="+mj-ea"/>
                <a:ea typeface="+mj-ea"/>
              </a:rPr>
              <a:t>무형 자원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961C716-CA60-41F2-B6F0-37918155FB12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0649" y="2008804"/>
            <a:ext cx="1128995" cy="58113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A55857A-B562-404E-8776-F44A058E1BE0}"/>
              </a:ext>
            </a:extLst>
          </p:cNvPr>
          <p:cNvSpPr txBox="1"/>
          <p:nvPr/>
        </p:nvSpPr>
        <p:spPr>
          <a:xfrm>
            <a:off x="6660680" y="2597959"/>
            <a:ext cx="5419021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인적 자원</a:t>
            </a:r>
            <a:r>
              <a:rPr lang="en-US" altLang="ko-KR" dirty="0"/>
              <a:t>(1500</a:t>
            </a:r>
            <a:r>
              <a:rPr lang="ko-KR" altLang="en-US" dirty="0"/>
              <a:t>명</a:t>
            </a:r>
            <a:r>
              <a:rPr lang="en-US" altLang="ko-KR" dirty="0"/>
              <a:t>+)</a:t>
            </a:r>
            <a:r>
              <a:rPr lang="ko-KR" altLang="en-US" dirty="0"/>
              <a:t> </a:t>
            </a:r>
            <a:r>
              <a:rPr lang="en-US" altLang="ko-KR" dirty="0"/>
              <a:t>:</a:t>
            </a:r>
            <a:r>
              <a:rPr lang="ko-KR" altLang="en-US" dirty="0" err="1"/>
              <a:t>워크데이</a:t>
            </a:r>
            <a:r>
              <a:rPr lang="en-US" altLang="ko-KR" dirty="0"/>
              <a:t>,</a:t>
            </a:r>
            <a:r>
              <a:rPr lang="ko-KR" altLang="en-US" dirty="0"/>
              <a:t> 인적자원관리</a:t>
            </a:r>
            <a:r>
              <a:rPr lang="en-US" altLang="ko-KR" dirty="0"/>
              <a:t>(HCM)</a:t>
            </a:r>
            <a:r>
              <a:rPr lang="ko-KR" altLang="en-US" dirty="0"/>
              <a:t> 솔루션을 도입하여 인사 관련 </a:t>
            </a:r>
            <a:r>
              <a:rPr lang="ko-KR" altLang="en-US" b="1" u="sng" dirty="0"/>
              <a:t>협업과 소통 강화를 </a:t>
            </a:r>
            <a:r>
              <a:rPr lang="ko-KR" altLang="en-US" dirty="0"/>
              <a:t>통한 </a:t>
            </a:r>
            <a:r>
              <a:rPr lang="en-US" altLang="ko-KR" dirty="0"/>
              <a:t>HR(</a:t>
            </a:r>
            <a:r>
              <a:rPr lang="ko-KR" altLang="en-US" dirty="0"/>
              <a:t>인적자원</a:t>
            </a:r>
            <a:r>
              <a:rPr lang="en-US" altLang="ko-KR" dirty="0"/>
              <a:t>) </a:t>
            </a:r>
            <a:r>
              <a:rPr lang="ko-KR" altLang="en-US" dirty="0"/>
              <a:t>지원 체계를 도입하여 </a:t>
            </a:r>
            <a:r>
              <a:rPr lang="ko-KR" altLang="en-US" b="1" u="sng" dirty="0"/>
              <a:t>클라우드 기반의 인사관리 시스템을 구축하였다</a:t>
            </a:r>
            <a:r>
              <a:rPr lang="en-US" altLang="ko-KR" b="1" u="sng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하지만 </a:t>
            </a:r>
            <a:r>
              <a:rPr lang="ko-KR" altLang="en-US" b="1" u="sng" dirty="0"/>
              <a:t>연봉은 높지만 아쉬운 </a:t>
            </a:r>
            <a:r>
              <a:rPr lang="ko-KR" altLang="en-US" b="1" u="sng" dirty="0" err="1"/>
              <a:t>워라벨과</a:t>
            </a:r>
            <a:r>
              <a:rPr lang="ko-KR" altLang="en-US" b="1" u="sng" dirty="0"/>
              <a:t> 동료평가 시스템이 정치질로 변질하였고 경력직들도 버티기 힘들만큼 근무 강도가 상상 이상으로 </a:t>
            </a:r>
            <a:r>
              <a:rPr lang="ko-KR" altLang="en-US" b="1" u="sng" dirty="0" err="1"/>
              <a:t>퇴사율</a:t>
            </a:r>
            <a:r>
              <a:rPr lang="en-US" altLang="ko-KR" b="1" u="sng" dirty="0"/>
              <a:t>, </a:t>
            </a:r>
            <a:r>
              <a:rPr lang="ko-KR" altLang="en-US" b="1" u="sng" dirty="0"/>
              <a:t>이직율이 높다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퇴사율이 높아 </a:t>
            </a:r>
            <a:r>
              <a:rPr lang="ko-KR" altLang="en-US" b="1" u="sng" dirty="0"/>
              <a:t>기업 신뢰성이 떨어질 </a:t>
            </a:r>
            <a:r>
              <a:rPr lang="ko-KR" altLang="en-US" dirty="0"/>
              <a:t>수 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특허 </a:t>
            </a:r>
            <a:r>
              <a:rPr lang="en-US" altLang="ko-KR" dirty="0"/>
              <a:t>: </a:t>
            </a:r>
            <a:r>
              <a:rPr lang="ko-KR" altLang="en-US" dirty="0"/>
              <a:t>전화번호 송금</a:t>
            </a:r>
            <a:r>
              <a:rPr lang="en-US" altLang="ko-KR" dirty="0"/>
              <a:t>, </a:t>
            </a:r>
            <a:r>
              <a:rPr lang="ko-KR" altLang="en-US" dirty="0"/>
              <a:t>본인계좌 간편인증</a:t>
            </a:r>
            <a:r>
              <a:rPr lang="en-US" altLang="ko-KR" dirty="0"/>
              <a:t>, </a:t>
            </a:r>
            <a:r>
              <a:rPr lang="ko-KR" altLang="en-US" dirty="0"/>
              <a:t>오픈 뱅킹</a:t>
            </a:r>
            <a:endParaRPr lang="en-US" altLang="ko-KR" dirty="0"/>
          </a:p>
          <a:p>
            <a:r>
              <a:rPr lang="en-US" altLang="ko-KR" dirty="0"/>
              <a:t>- </a:t>
            </a:r>
            <a:r>
              <a:rPr lang="ko-KR" altLang="en-US" b="1" u="sng" dirty="0"/>
              <a:t>기술력이 뛰어남</a:t>
            </a:r>
            <a:endParaRPr lang="en-US" altLang="ko-KR" b="1" u="sng" dirty="0"/>
          </a:p>
          <a:p>
            <a:r>
              <a:rPr lang="ko-KR" altLang="en-US" dirty="0"/>
              <a:t>토스를 운영하는 </a:t>
            </a:r>
            <a:r>
              <a:rPr lang="ko-KR" altLang="en-US" b="1" u="sng" dirty="0" err="1"/>
              <a:t>비바리퍼블리카의</a:t>
            </a:r>
            <a:r>
              <a:rPr lang="ko-KR" altLang="en-US" b="1" u="sng" dirty="0"/>
              <a:t> 기업가치 </a:t>
            </a:r>
            <a:r>
              <a:rPr lang="en-US" altLang="ko-KR" b="1" u="sng" dirty="0"/>
              <a:t>- 8</a:t>
            </a:r>
            <a:r>
              <a:rPr lang="ko-KR" altLang="en-US" b="1" u="sng" dirty="0"/>
              <a:t>조</a:t>
            </a:r>
            <a:endParaRPr lang="en-US" altLang="ko-KR" b="1" u="sng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648FC6-C615-4E64-97AA-318794E99760}"/>
              </a:ext>
            </a:extLst>
          </p:cNvPr>
          <p:cNvSpPr txBox="1"/>
          <p:nvPr/>
        </p:nvSpPr>
        <p:spPr>
          <a:xfrm>
            <a:off x="380714" y="5775159"/>
            <a:ext cx="55805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분석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투자받아</a:t>
            </a:r>
            <a:r>
              <a:rPr lang="ko-KR" altLang="en-US" sz="1600" dirty="0"/>
              <a:t> </a:t>
            </a:r>
            <a:r>
              <a:rPr lang="ko-KR" altLang="en-US" sz="1600" b="1" u="sng" dirty="0"/>
              <a:t>자본력을 바탕</a:t>
            </a:r>
            <a:r>
              <a:rPr lang="ko-KR" altLang="en-US" sz="1600" dirty="0"/>
              <a:t>으로 뛰어난 </a:t>
            </a:r>
            <a:r>
              <a:rPr lang="ko-KR" altLang="en-US" sz="1600" b="1" u="sng" dirty="0"/>
              <a:t>인재들</a:t>
            </a:r>
            <a:r>
              <a:rPr lang="ko-KR" altLang="en-US" sz="1600" dirty="0"/>
              <a:t>을 많이 </a:t>
            </a:r>
            <a:r>
              <a:rPr lang="ko-KR" altLang="en-US" sz="1600" b="1" u="sng" dirty="0"/>
              <a:t>채용</a:t>
            </a:r>
            <a:r>
              <a:rPr lang="ko-KR" altLang="en-US" sz="1600" dirty="0"/>
              <a:t>하였고 뛰어난 </a:t>
            </a:r>
            <a:r>
              <a:rPr lang="ko-KR" altLang="en-US" sz="1600" b="1" u="sng" dirty="0"/>
              <a:t>신기술들을 개발</a:t>
            </a:r>
            <a:r>
              <a:rPr lang="ko-KR" altLang="en-US" sz="1600" dirty="0"/>
              <a:t>하여 계속 많은 금액의 </a:t>
            </a:r>
            <a:r>
              <a:rPr lang="ko-KR" altLang="en-US" sz="1600" b="1" u="sng" dirty="0"/>
              <a:t>투자를 유치</a:t>
            </a:r>
            <a:r>
              <a:rPr lang="ko-KR" altLang="en-US" sz="1600" dirty="0"/>
              <a:t>하며 </a:t>
            </a:r>
            <a:r>
              <a:rPr lang="ko-KR" altLang="en-US" sz="1600" b="1" u="sng" dirty="0"/>
              <a:t>선순환의 구조</a:t>
            </a:r>
            <a:r>
              <a:rPr lang="ko-KR" altLang="en-US" sz="1600" dirty="0"/>
              <a:t>를 보여주었고 이를 바탕으로 </a:t>
            </a:r>
            <a:r>
              <a:rPr lang="ko-KR" altLang="en-US" sz="1600" b="1" u="sng" dirty="0"/>
              <a:t>자원이 풍부하다</a:t>
            </a:r>
            <a:r>
              <a:rPr lang="ko-KR" altLang="en-US" sz="1600" dirty="0"/>
              <a:t>고 분석할 수 있다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991285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3. </a:t>
            </a:r>
            <a:r>
              <a:rPr lang="ko-KR" altLang="en-US" sz="4000" spc="-300" dirty="0"/>
              <a:t>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288758" y="873840"/>
            <a:ext cx="1470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내부 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역량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65B78BF-CDEB-443F-A68E-FD01ADD40F89}"/>
              </a:ext>
            </a:extLst>
          </p:cNvPr>
          <p:cNvSpPr/>
          <p:nvPr/>
        </p:nvSpPr>
        <p:spPr>
          <a:xfrm>
            <a:off x="635991" y="1732730"/>
            <a:ext cx="3525520" cy="249220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전화번호 송금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본인 계좌 간편인증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오픈 뱅킹으로 </a:t>
            </a:r>
            <a:r>
              <a:rPr lang="ko-KR" altLang="en-US" b="1" u="sng" dirty="0">
                <a:solidFill>
                  <a:schemeClr val="tx1"/>
                </a:solidFill>
              </a:rPr>
              <a:t>특허도 </a:t>
            </a:r>
            <a:r>
              <a:rPr lang="en-US" altLang="ko-KR" b="1" u="sng" dirty="0">
                <a:solidFill>
                  <a:schemeClr val="tx1"/>
                </a:solidFill>
              </a:rPr>
              <a:t>3</a:t>
            </a:r>
            <a:r>
              <a:rPr lang="ko-KR" altLang="en-US" b="1" u="sng" dirty="0">
                <a:solidFill>
                  <a:schemeClr val="tx1"/>
                </a:solidFill>
              </a:rPr>
              <a:t>개</a:t>
            </a:r>
            <a:r>
              <a:rPr lang="ko-KR" altLang="en-US" dirty="0">
                <a:solidFill>
                  <a:schemeClr val="tx1"/>
                </a:solidFill>
              </a:rPr>
              <a:t>를 등록했을 정도로 신기술을 잘 만들고 적용해 사람들에게 앱의 편리함과 이름을 알리게 되었고 현재 </a:t>
            </a:r>
            <a:r>
              <a:rPr lang="ko-KR" altLang="en-US" b="1" u="sng" dirty="0">
                <a:solidFill>
                  <a:schemeClr val="tx1"/>
                </a:solidFill>
              </a:rPr>
              <a:t>업계</a:t>
            </a:r>
            <a:r>
              <a:rPr lang="en-US" altLang="ko-KR" b="1" u="sng" dirty="0">
                <a:solidFill>
                  <a:schemeClr val="tx1"/>
                </a:solidFill>
              </a:rPr>
              <a:t> 1</a:t>
            </a:r>
            <a:r>
              <a:rPr lang="ko-KR" altLang="en-US" b="1" u="sng" dirty="0">
                <a:solidFill>
                  <a:schemeClr val="tx1"/>
                </a:solidFill>
              </a:rPr>
              <a:t>위라는</a:t>
            </a:r>
            <a:r>
              <a:rPr lang="ko-KR" altLang="en-US" dirty="0">
                <a:solidFill>
                  <a:schemeClr val="tx1"/>
                </a:solidFill>
              </a:rPr>
              <a:t> 근거를 바탕으로 기술력은 상위권을 차지한다고 생각한다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337304-570C-4545-B68C-1DC7133B9EBA}"/>
              </a:ext>
            </a:extLst>
          </p:cNvPr>
          <p:cNvSpPr txBox="1"/>
          <p:nvPr/>
        </p:nvSpPr>
        <p:spPr>
          <a:xfrm>
            <a:off x="768071" y="4629208"/>
            <a:ext cx="32613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전화번호 송금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본인 계좌 간편인증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오픈 뱅킹으로  특허가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있을 정도로 기술력에 상당한 자신이 있으며 최근에는 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4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차 산업인 빅데이터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AI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를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통하여 고객에게 알맞은 서비스를 추천 및 제공하였고  조작하기 쉬운 인터페이스와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주식에 대한 간편한 관리가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가능하여 다시한번  뛰어난 기술력을 보였다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85CB16-A4CA-47A2-A18E-953A754FBBE8}"/>
              </a:ext>
            </a:extLst>
          </p:cNvPr>
          <p:cNvSpPr txBox="1"/>
          <p:nvPr/>
        </p:nvSpPr>
        <p:spPr>
          <a:xfrm>
            <a:off x="1472055" y="4273064"/>
            <a:ext cx="18533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신제품 개발 역량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A1D0D43-2759-47D0-973D-C42F1298BAF7}"/>
              </a:ext>
            </a:extLst>
          </p:cNvPr>
          <p:cNvSpPr/>
          <p:nvPr/>
        </p:nvSpPr>
        <p:spPr>
          <a:xfrm>
            <a:off x="4313911" y="1732730"/>
            <a:ext cx="3525520" cy="249221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dirty="0">
                <a:solidFill>
                  <a:schemeClr val="tx1"/>
                </a:solidFill>
              </a:rPr>
              <a:t>업계</a:t>
            </a:r>
            <a:r>
              <a:rPr lang="en-US" altLang="ko-KR" dirty="0">
                <a:solidFill>
                  <a:schemeClr val="tx1"/>
                </a:solidFill>
              </a:rPr>
              <a:t> 1</a:t>
            </a:r>
            <a:r>
              <a:rPr lang="ko-KR" altLang="en-US" dirty="0">
                <a:solidFill>
                  <a:schemeClr val="tx1"/>
                </a:solidFill>
              </a:rPr>
              <a:t>위의 기술력을 바탕으로 처음에는 전화번호만 알아도 계좌 송금이 가능하다는 놀라운 기능으로 거의 모든 매체에 </a:t>
            </a:r>
            <a:r>
              <a:rPr lang="ko-KR" altLang="en-US" b="1" u="sng" dirty="0">
                <a:solidFill>
                  <a:schemeClr val="tx1"/>
                </a:solidFill>
              </a:rPr>
              <a:t>홍보를 통해 젊은 세대의 유입</a:t>
            </a:r>
            <a:r>
              <a:rPr lang="ko-KR" altLang="en-US" dirty="0">
                <a:solidFill>
                  <a:schemeClr val="tx1"/>
                </a:solidFill>
              </a:rPr>
              <a:t>을 이끌었고 최근에는 증권이 오픈하면서 </a:t>
            </a:r>
            <a:r>
              <a:rPr lang="ko-KR" altLang="en-US" b="1" u="sng" dirty="0">
                <a:solidFill>
                  <a:schemeClr val="tx1"/>
                </a:solidFill>
              </a:rPr>
              <a:t>무료 </a:t>
            </a:r>
            <a:r>
              <a:rPr lang="en-US" altLang="ko-KR" b="1" u="sng" dirty="0">
                <a:solidFill>
                  <a:schemeClr val="tx1"/>
                </a:solidFill>
              </a:rPr>
              <a:t>1</a:t>
            </a:r>
            <a:r>
              <a:rPr lang="ko-KR" altLang="en-US" b="1" u="sng" dirty="0">
                <a:solidFill>
                  <a:schemeClr val="tx1"/>
                </a:solidFill>
              </a:rPr>
              <a:t>주 주식을 준다는 마케팅</a:t>
            </a:r>
            <a:r>
              <a:rPr lang="ko-KR" altLang="en-US" dirty="0">
                <a:solidFill>
                  <a:schemeClr val="tx1"/>
                </a:solidFill>
              </a:rPr>
              <a:t>으로 수많은 사람을 토스로 이끌었다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92F4E7-F31E-4E98-9577-782D6B41B1CC}"/>
              </a:ext>
            </a:extLst>
          </p:cNvPr>
          <p:cNvSpPr txBox="1"/>
          <p:nvPr/>
        </p:nvSpPr>
        <p:spPr>
          <a:xfrm>
            <a:off x="4445991" y="4629208"/>
            <a:ext cx="326136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주식 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주 무료 이벤트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경우 친구 초대 이벤트를 통하여 친구가 수락하여 토스에 가입 시 초대자에게도 가입자에게도 혜택이 가는 방식으로 한창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재테크에 관심이 많은 </a:t>
            </a:r>
            <a:r>
              <a:rPr lang="en-US" altLang="ko-KR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MZ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세대 뿐만 아니라 전연령층에 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제대로 먹혀 들어가 좋은 성가를 창출해낸 성공적인 마케팅이었다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830B840-3467-4446-A0CE-1755A6936C64}"/>
              </a:ext>
            </a:extLst>
          </p:cNvPr>
          <p:cNvSpPr txBox="1"/>
          <p:nvPr/>
        </p:nvSpPr>
        <p:spPr>
          <a:xfrm>
            <a:off x="5424089" y="4273064"/>
            <a:ext cx="1305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마케팅 역량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B726F55A-55CF-47F8-8BA4-2DAC5301C650}"/>
              </a:ext>
            </a:extLst>
          </p:cNvPr>
          <p:cNvSpPr/>
          <p:nvPr/>
        </p:nvSpPr>
        <p:spPr>
          <a:xfrm>
            <a:off x="7991831" y="1732730"/>
            <a:ext cx="3525520" cy="249220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o-KR" altLang="en-US" b="1" u="sng" dirty="0">
                <a:solidFill>
                  <a:schemeClr val="tx1"/>
                </a:solidFill>
              </a:rPr>
              <a:t>최고 수준의 자율성은 최고 수준의 정보 공유</a:t>
            </a:r>
            <a:r>
              <a:rPr lang="ko-KR" altLang="en-US" dirty="0">
                <a:solidFill>
                  <a:schemeClr val="tx1"/>
                </a:solidFill>
              </a:rPr>
              <a:t>에서 나온다고 토스의 </a:t>
            </a:r>
            <a:r>
              <a:rPr lang="en-US" altLang="ko-KR" dirty="0">
                <a:solidFill>
                  <a:schemeClr val="tx1"/>
                </a:solidFill>
              </a:rPr>
              <a:t>CEO</a:t>
            </a:r>
            <a:r>
              <a:rPr lang="ko-KR" altLang="en-US" dirty="0">
                <a:solidFill>
                  <a:schemeClr val="tx1"/>
                </a:solidFill>
              </a:rPr>
              <a:t>인 </a:t>
            </a:r>
            <a:r>
              <a:rPr lang="ko-KR" altLang="en-US" dirty="0" err="1">
                <a:solidFill>
                  <a:schemeClr val="tx1"/>
                </a:solidFill>
              </a:rPr>
              <a:t>이승건</a:t>
            </a:r>
            <a:r>
              <a:rPr lang="ko-KR" altLang="en-US" dirty="0">
                <a:solidFill>
                  <a:schemeClr val="tx1"/>
                </a:solidFill>
              </a:rPr>
              <a:t> 씨가 말하였다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</a:p>
          <a:p>
            <a:pPr algn="ctr"/>
            <a:r>
              <a:rPr lang="ko-KR" altLang="en-US" dirty="0">
                <a:solidFill>
                  <a:schemeClr val="tx1"/>
                </a:solidFill>
              </a:rPr>
              <a:t>과감한 신뢰 문화를 통하여 유능한 개인이 리더가 되는 경험을 할 수도 있게끔 </a:t>
            </a:r>
            <a:r>
              <a:rPr lang="ko-KR" altLang="en-US" b="1" u="sng" dirty="0">
                <a:solidFill>
                  <a:schemeClr val="tx1"/>
                </a:solidFill>
              </a:rPr>
              <a:t>자발적으로 치열하게 성장을 추구</a:t>
            </a:r>
            <a:r>
              <a:rPr lang="ko-KR" altLang="en-US" dirty="0">
                <a:solidFill>
                  <a:schemeClr val="tx1"/>
                </a:solidFill>
              </a:rPr>
              <a:t>하게끔 되어있다</a:t>
            </a:r>
            <a:r>
              <a:rPr lang="en-US" altLang="ko-KR" dirty="0">
                <a:solidFill>
                  <a:schemeClr val="tx1"/>
                </a:solidFill>
              </a:rPr>
              <a:t>.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652B56E-616A-423C-A066-88BBD75A83DF}"/>
              </a:ext>
            </a:extLst>
          </p:cNvPr>
          <p:cNvSpPr txBox="1"/>
          <p:nvPr/>
        </p:nvSpPr>
        <p:spPr>
          <a:xfrm>
            <a:off x="8123911" y="4629208"/>
            <a:ext cx="32613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2020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년 토스에서 출시한 재난지원금 조회 서비스의 경우에는 한 직원의 제안에 동료들이 호응하여 주말 동안에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80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명이  모여 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일 만에 만들어낸 서비스이다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algn="just"/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이처럼 좋은 아이디어만 있다면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누구든 리더가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될 수 있듯이 젊은 세대들이 추구하는 </a:t>
            </a:r>
            <a:r>
              <a:rPr lang="ko-KR" altLang="en-US" sz="1400" b="1" u="sng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수평적인 조직문화가 </a:t>
            </a:r>
            <a:r>
              <a:rPr lang="ko-KR" altLang="en-US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구성되어 서로 정보를 공유하여 직원들의 역량을 더욱 발전시킨다</a:t>
            </a:r>
            <a:r>
              <a:rPr lang="en-US" altLang="ko-KR" sz="1400" spc="-15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  <a:endParaRPr lang="ko-KR" altLang="en-US" sz="1400" spc="-15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5FEFC8-E320-444B-A050-EBF8CBF7C4B7}"/>
              </a:ext>
            </a:extLst>
          </p:cNvPr>
          <p:cNvSpPr txBox="1"/>
          <p:nvPr/>
        </p:nvSpPr>
        <p:spPr>
          <a:xfrm>
            <a:off x="8733318" y="4273064"/>
            <a:ext cx="20425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조직문화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(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인적자원</a:t>
            </a:r>
            <a:r>
              <a:rPr lang="en-US" altLang="ko-KR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)</a:t>
            </a:r>
            <a:r>
              <a:rPr lang="ko-KR" altLang="en-US" spc="-150" dirty="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rPr>
              <a:t>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F96AF3E-3AAF-4DCE-A360-1B92DA4FA8C8}"/>
              </a:ext>
            </a:extLst>
          </p:cNvPr>
          <p:cNvSpPr txBox="1"/>
          <p:nvPr/>
        </p:nvSpPr>
        <p:spPr>
          <a:xfrm>
            <a:off x="0" y="6449243"/>
            <a:ext cx="109455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결론도출</a:t>
            </a:r>
            <a:r>
              <a:rPr lang="en-US" altLang="ko-KR" dirty="0"/>
              <a:t>: </a:t>
            </a:r>
            <a:r>
              <a:rPr lang="ko-KR" altLang="en-US" dirty="0"/>
              <a:t>위의 </a:t>
            </a:r>
            <a:r>
              <a:rPr lang="en-US" altLang="ko-KR" dirty="0"/>
              <a:t>3</a:t>
            </a:r>
            <a:r>
              <a:rPr lang="ko-KR" altLang="en-US" dirty="0"/>
              <a:t>개의 역량을 바탕으로 업계</a:t>
            </a:r>
            <a:r>
              <a:rPr lang="en-US" altLang="ko-KR" dirty="0"/>
              <a:t>1</a:t>
            </a:r>
            <a:r>
              <a:rPr lang="ko-KR" altLang="en-US" dirty="0"/>
              <a:t>위를 차지했으니 </a:t>
            </a:r>
            <a:r>
              <a:rPr lang="ko-KR" altLang="en-US" b="1" u="sng" dirty="0"/>
              <a:t>현상태를 유지</a:t>
            </a:r>
            <a:r>
              <a:rPr lang="ko-KR" altLang="en-US" dirty="0"/>
              <a:t>하는 것이 좋을 것 같다</a:t>
            </a:r>
            <a:r>
              <a:rPr lang="en-US" altLang="ko-KR" dirty="0"/>
              <a:t>.</a:t>
            </a:r>
            <a:r>
              <a:rPr lang="ko-KR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14610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5378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000" spc="-300" dirty="0"/>
              <a:t>3.</a:t>
            </a:r>
            <a:r>
              <a:rPr lang="ko-KR" altLang="en-US" sz="4000" spc="-300" dirty="0"/>
              <a:t> 상황분석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86826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E4809B-935D-452B-B334-96D828FA67D7}"/>
              </a:ext>
            </a:extLst>
          </p:cNvPr>
          <p:cNvSpPr txBox="1"/>
          <p:nvPr/>
        </p:nvSpPr>
        <p:spPr>
          <a:xfrm>
            <a:off x="90778" y="945845"/>
            <a:ext cx="400110" cy="2057615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내부환경 </a:t>
            </a:r>
            <a:r>
              <a:rPr lang="en-US" altLang="ko-KR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– </a:t>
            </a:r>
            <a:r>
              <a:rPr lang="ko-KR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핵심 경쟁력</a:t>
            </a:r>
          </a:p>
        </p:txBody>
      </p:sp>
      <p:graphicFrame>
        <p:nvGraphicFramePr>
          <p:cNvPr id="2" name="표 10">
            <a:extLst>
              <a:ext uri="{FF2B5EF4-FFF2-40B4-BE49-F238E27FC236}">
                <a16:creationId xmlns:a16="http://schemas.microsoft.com/office/drawing/2014/main" id="{2A7B6BC6-109E-45D5-8478-F20C8264E1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67254"/>
              </p:ext>
            </p:extLst>
          </p:nvPr>
        </p:nvGraphicFramePr>
        <p:xfrm>
          <a:off x="490888" y="938456"/>
          <a:ext cx="11412354" cy="59165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44148">
                  <a:extLst>
                    <a:ext uri="{9D8B030D-6E8A-4147-A177-3AD203B41FA5}">
                      <a16:colId xmlns:a16="http://schemas.microsoft.com/office/drawing/2014/main" val="3531850559"/>
                    </a:ext>
                  </a:extLst>
                </a:gridCol>
                <a:gridCol w="4864893">
                  <a:extLst>
                    <a:ext uri="{9D8B030D-6E8A-4147-A177-3AD203B41FA5}">
                      <a16:colId xmlns:a16="http://schemas.microsoft.com/office/drawing/2014/main" val="233451672"/>
                    </a:ext>
                  </a:extLst>
                </a:gridCol>
                <a:gridCol w="4503313">
                  <a:extLst>
                    <a:ext uri="{9D8B030D-6E8A-4147-A177-3AD203B41FA5}">
                      <a16:colId xmlns:a16="http://schemas.microsoft.com/office/drawing/2014/main" val="147750392"/>
                    </a:ext>
                  </a:extLst>
                </a:gridCol>
              </a:tblGrid>
              <a:tr h="39965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토스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카카오페이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83732350"/>
                  </a:ext>
                </a:extLst>
              </a:tr>
              <a:tr h="532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전략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u="sng" dirty="0" err="1">
                          <a:solidFill>
                            <a:schemeClr val="tx1"/>
                          </a:solidFill>
                        </a:rPr>
                        <a:t>원앱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 전략으로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한 개의 앱을 설치하면 모든 기능을 사용 가능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-&gt;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접근성 높음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카카오톡과 카카오페이로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나누어져 있는 </a:t>
                      </a:r>
                      <a:r>
                        <a:rPr lang="ko-KR" altLang="en-US" sz="1600" b="1" u="sng" dirty="0" err="1">
                          <a:solidFill>
                            <a:schemeClr val="tx1"/>
                          </a:solidFill>
                        </a:rPr>
                        <a:t>멀티앱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 전략</a:t>
                      </a:r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altLang="ko-KR" sz="1600" b="0" u="none" dirty="0">
                          <a:solidFill>
                            <a:schemeClr val="tx1"/>
                          </a:solidFill>
                        </a:rPr>
                        <a:t>-&gt;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접근성이 떨어짐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4663409"/>
                  </a:ext>
                </a:extLst>
              </a:tr>
              <a:tr h="532399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마케팅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EFE7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SNS, TV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등 다양한 매체에서 광고하기 위해서는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비용도 많이 들고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TV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나 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SNS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를 안 하는 사람들도 존재하기에 카카오페이에 비해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많은 사람에게 보여주기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힘듦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카카오톡이라는 플랫폼을 가지고 있어 별도의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  <a:effectLst/>
                        </a:rPr>
                        <a:t>비용 없이 광고가 가능하고 많은 사람들에게 광고를 노출시킬 수 있음</a:t>
                      </a:r>
                      <a:endParaRPr lang="en-US" altLang="ko-KR" sz="1600" b="1" u="sng" dirty="0">
                        <a:solidFill>
                          <a:schemeClr val="tx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적은 노력으로 최대의 효과를 볼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수있음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4638958"/>
                  </a:ext>
                </a:extLst>
              </a:tr>
              <a:tr h="529389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핵심 경쟁력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전화번호 송금과 증권 기능 등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다양하고 차별화 된 기술들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을 제공하여 소비자 중심의 정책으로 승부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</a:rPr>
                        <a:t> </a:t>
                      </a:r>
                      <a:r>
                        <a:rPr lang="ko-KR" altLang="en-US" sz="1600" b="1" u="sng" kern="1200" dirty="0">
                          <a:solidFill>
                            <a:schemeClr val="tx1"/>
                          </a:solidFill>
                          <a:effectLst/>
                        </a:rPr>
                        <a:t>카카오 브랜드 파워 및 카카오톡 플랫폼 연계로 강력한 입지를 </a:t>
                      </a:r>
                      <a:r>
                        <a:rPr lang="ko-KR" altLang="en-US" sz="1600" b="0" kern="1200" dirty="0">
                          <a:solidFill>
                            <a:schemeClr val="tx1"/>
                          </a:solidFill>
                          <a:effectLst/>
                        </a:rPr>
                        <a:t>가지고 있으며 다양한 기능을 제공하기 위해 노력  </a:t>
                      </a:r>
                      <a:endParaRPr lang="ko-KR" altLang="en-US" sz="1600" b="0" i="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1236863"/>
                  </a:ext>
                </a:extLst>
              </a:tr>
              <a:tr h="532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인적 자원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수평적인 조직문화를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조성하여 다양한 의견과 가치관을 공유하여 모두 발전하는 형태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i="0" u="sng" dirty="0">
                          <a:solidFill>
                            <a:schemeClr val="tx1"/>
                          </a:solidFill>
                        </a:rPr>
                        <a:t>수직에서 수평적인 조직문화로 전환하기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위해서 현재 노력 중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2407416"/>
                  </a:ext>
                </a:extLst>
              </a:tr>
              <a:tr h="53239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월간활성사용자수</a:t>
                      </a:r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(MAU)</a:t>
                      </a:r>
                      <a:endParaRPr lang="ko-KR" altLang="en-US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1412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만 명 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최대의 경쟁사인 카카오페이를 이김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solidFill>
                            <a:schemeClr val="tx1"/>
                          </a:solidFill>
                        </a:rPr>
                        <a:t>1342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만 명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3081737"/>
                  </a:ext>
                </a:extLst>
              </a:tr>
              <a:tr h="20033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단점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오프라인 결제가 안되어 따로 토스 카드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를 신청해서 사용해야 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네이버 쇼핑에서 결제가 안되고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멀티앱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전략으로 인한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접근성 저하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415577"/>
                  </a:ext>
                </a:extLst>
              </a:tr>
              <a:tr h="532399">
                <a:tc>
                  <a:txBody>
                    <a:bodyPr/>
                    <a:lstStyle/>
                    <a:p>
                      <a:pPr algn="ctr" latinLnBrk="1"/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분석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원앱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전략으로 토스 앱 한 개만 설치하면 은행부터 증권까지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모든 기능을 사용 할 수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있으며 전화번호 송금 등 다양하고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차별화된 기술력으로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승부하였고 특히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증권에서 간편한 조작과 이해하기 쉬운 정보들</a:t>
                      </a:r>
                      <a:r>
                        <a:rPr lang="ko-KR" altLang="en-US" sz="1600" b="0" u="none" dirty="0">
                          <a:solidFill>
                            <a:schemeClr val="tx1"/>
                          </a:solidFill>
                        </a:rPr>
                        <a:t>로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구성하여 전연령층의 관심을 모음</a:t>
                      </a:r>
                      <a:endParaRPr lang="en-US" altLang="ko-KR" sz="1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멀태앱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전략으로 접근성은 살짝 떨어지지만 카카오톡이라는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플랫폼의 힘으로 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카카오톡에서 바로 페이 기능이 수행할 수 있게 설계하여 </a:t>
                      </a:r>
                      <a:r>
                        <a:rPr lang="ko-KR" altLang="en-US" sz="1600" dirty="0" err="1">
                          <a:solidFill>
                            <a:schemeClr val="tx1"/>
                          </a:solidFill>
                        </a:rPr>
                        <a:t>기프트콘</a:t>
                      </a:r>
                      <a:r>
                        <a:rPr lang="ko-KR" altLang="en-US" sz="1600" dirty="0">
                          <a:solidFill>
                            <a:schemeClr val="tx1"/>
                          </a:solidFill>
                        </a:rPr>
                        <a:t> 등 다양한 선물들을 보낼 수 있어 소비자들의 사용이 많고 </a:t>
                      </a:r>
                      <a:r>
                        <a:rPr lang="ko-KR" altLang="en-US" sz="1600" b="1" u="sng" dirty="0">
                          <a:solidFill>
                            <a:schemeClr val="tx1"/>
                          </a:solidFill>
                        </a:rPr>
                        <a:t>증권의 기능이 있어 사용자가 많음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3347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6882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47DCEBA5-B237-4323-B101-C9E175E5B7D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362" y="0"/>
            <a:ext cx="5467638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C8FC1D-E81C-4C56-8940-A628576E9E82}"/>
              </a:ext>
            </a:extLst>
          </p:cNvPr>
          <p:cNvSpPr txBox="1"/>
          <p:nvPr/>
        </p:nvSpPr>
        <p:spPr>
          <a:xfrm flipH="1">
            <a:off x="576578" y="1679138"/>
            <a:ext cx="58775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3.</a:t>
            </a:r>
            <a:r>
              <a:rPr lang="ko-KR" altLang="en-US" sz="4000" dirty="0">
                <a:solidFill>
                  <a:schemeClr val="tx1">
                    <a:lumMod val="75000"/>
                    <a:lumOff val="25000"/>
                  </a:schemeClr>
                </a:solidFill>
                <a:latin typeface="나눔스퀘어 Light" panose="020B0600000101010101" pitchFamily="50" charset="-127"/>
                <a:ea typeface="나눔스퀘어 Light" panose="020B0600000101010101" pitchFamily="50" charset="-127"/>
              </a:rPr>
              <a:t> 상황분석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443C15-D2F3-41AF-BDF5-E4F33CE73EB8}"/>
              </a:ext>
            </a:extLst>
          </p:cNvPr>
          <p:cNvSpPr txBox="1"/>
          <p:nvPr/>
        </p:nvSpPr>
        <p:spPr>
          <a:xfrm>
            <a:off x="576578" y="2623591"/>
            <a:ext cx="562864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다양한 법들의 규제 완화로 더욱 개발에 집중할 수 있는 환경이 마련되었으며 재테크의 관심이 높은 시대에 맞춰 그에 알맞은 전략을 세워 예방 및 대비를 해야 하고 꾸준한 인재 관리를 통해 뛰어난 기술력을 바탕으로 투자 유치하여 선순환 구조를 따라 진행되게끔 경영 전략을 잘 세워야 한다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또한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경쟁사들 모두 대기업을 기반으로 성장하였으므로 대부분의 기술력은 비슷할 것이기에 빅데이터와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AI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기술을 활용하여 맞춤형 서비스와 차별성이 있어야 고객들의 시선을 모으고 떠나가지 않게끔 할 수 있다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이것을 잘하였기에 토스가 업계 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위를 달성 할 수 있었던 것이다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algn="just"/>
            <a:r>
              <a:rPr lang="ko-KR" altLang="en-US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그리고 토스는 오프라인 결제를 하기 위해서는 토스 카드를 신청해서 카드를 들고 다녀야 하는 번거로움이 존재하기에 카카오페이나 삼성페이처럼 핸드폰만 있어도 결제할 수 있게끔 새로운 방법과 전략을 구축하는 것이 좋을 것 같다</a:t>
            </a:r>
            <a:r>
              <a:rPr lang="en-US" altLang="ko-KR" sz="16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 </a:t>
            </a:r>
          </a:p>
        </p:txBody>
      </p:sp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011CA31F-A4A9-408F-A740-CE9F975AD82F}"/>
              </a:ext>
            </a:extLst>
          </p:cNvPr>
          <p:cNvCxnSpPr>
            <a:cxnSpLocks/>
          </p:cNvCxnSpPr>
          <p:nvPr/>
        </p:nvCxnSpPr>
        <p:spPr>
          <a:xfrm>
            <a:off x="576578" y="1433641"/>
            <a:ext cx="5628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E154464-CC89-43AC-A18B-701941D595A0}"/>
              </a:ext>
            </a:extLst>
          </p:cNvPr>
          <p:cNvCxnSpPr>
            <a:cxnSpLocks/>
          </p:cNvCxnSpPr>
          <p:nvPr/>
        </p:nvCxnSpPr>
        <p:spPr>
          <a:xfrm>
            <a:off x="576578" y="6163657"/>
            <a:ext cx="562864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0C0BF9D-4779-48B2-BC20-31FB06BA7BF9}"/>
              </a:ext>
            </a:extLst>
          </p:cNvPr>
          <p:cNvSpPr txBox="1"/>
          <p:nvPr/>
        </p:nvSpPr>
        <p:spPr>
          <a:xfrm>
            <a:off x="576578" y="2327598"/>
            <a:ext cx="43698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/>
              <a:t>최종 분석</a:t>
            </a:r>
          </a:p>
        </p:txBody>
      </p:sp>
    </p:spTree>
    <p:extLst>
      <p:ext uri="{BB962C8B-B14F-4D97-AF65-F5344CB8AC3E}">
        <p14:creationId xmlns:p14="http://schemas.microsoft.com/office/powerpoint/2010/main" val="2832146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7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spc="-300" dirty="0"/>
              <a:t>4. </a:t>
            </a:r>
            <a:r>
              <a:rPr lang="ko-KR" altLang="en-US" sz="5400" spc="-300" dirty="0"/>
              <a:t>느낀 점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21642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CC50B18-A39C-4E23-A4A8-C392ED7325E4}"/>
              </a:ext>
            </a:extLst>
          </p:cNvPr>
          <p:cNvSpPr txBox="1"/>
          <p:nvPr/>
        </p:nvSpPr>
        <p:spPr>
          <a:xfrm>
            <a:off x="-179871" y="1412218"/>
            <a:ext cx="2641589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3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「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5800D95-D068-414F-BDE6-060039780CF8}"/>
              </a:ext>
            </a:extLst>
          </p:cNvPr>
          <p:cNvSpPr txBox="1"/>
          <p:nvPr/>
        </p:nvSpPr>
        <p:spPr>
          <a:xfrm>
            <a:off x="10348068" y="3951573"/>
            <a:ext cx="1298753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>
              <a:defRPr sz="13800">
                <a:solidFill>
                  <a:srgbClr val="0194E7"/>
                </a:solidFill>
              </a:defRPr>
            </a:lvl1pPr>
          </a:lstStyle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」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9A9075-14EC-4664-974F-AFF20F8E1D6C}"/>
              </a:ext>
            </a:extLst>
          </p:cNvPr>
          <p:cNvSpPr txBox="1"/>
          <p:nvPr/>
        </p:nvSpPr>
        <p:spPr>
          <a:xfrm>
            <a:off x="835806" y="1804732"/>
            <a:ext cx="10315644" cy="39703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기업 분석 보고서는 처음 작성해보는데 생각보다 어렵고 많은 시간이 걸렸습니다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그리고 자료 찾아보는데 제대로 된 자료도 찾기가 힘들고 꼬리에 꼬리를 물듯이 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뉴스 기사에서 법까지 다양한 자료들을 검색하여 보게 되었습니다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하지만 처음에는 힘들었지만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자료를 모아 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PPT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를 작성하면서 조직문화부터 어떠한 사업까지 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확장하는지 등 다양한 정보를 통해 이 회사에 대해 자세히 알게 되었습니다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어떠한 점이 부족하고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어떠한 점이 잘하고 있는 것인지 파악할 수 있었고 현재 상황에 알맞은 전략은 무엇인지 경쟁사들과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비교하면서 알게 되었고 사용하기만 하였지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토스에 대해 잘 몰랐는데 업계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1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위의 등 다양한 정보를 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얻을 수 있었습니다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또한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,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이 기회에 기업에 대한 상황에 맞는 분석을 하는 데 재미를 느낄 수 있었습니다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현재 어떠한 상황이니까 어떠한 대책이나 정책을 통하여 대비 및 예방할 수 있을지 생각을 해보는 등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재미있는 경험이 되었습니다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 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그리고 왜 상황 분석하는지 그 이유를 직접 느낄 있었습니다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ko-KR" altLang="en-US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산업뿐만</a:t>
            </a:r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아니라 내부 상황에 대해서도 분석을 통해 자신들에게 부족한 점을 보완하여 성장을 통해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기업들이 더욱 올바른 선택을 하기 위해 상황분석이 꼭 필요하다고 생각되었습니다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  <a:p>
            <a:r>
              <a:rPr lang="ko-KR" alt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다음번에는 더욱 다양한 주제로 기업들을 분석해 보는 것도 재미있을 것 같습니다</a:t>
            </a:r>
            <a:r>
              <a:rPr lang="en-US" altLang="ko-K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94202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6"/>
            <a:ext cx="3554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300" dirty="0"/>
              <a:t>5. </a:t>
            </a:r>
            <a:r>
              <a:rPr lang="ko-KR" altLang="en-US" sz="5400" spc="-300" dirty="0"/>
              <a:t>참고자료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21642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F58F7E-A90A-49F6-BF7D-F7DB6261771D}"/>
              </a:ext>
            </a:extLst>
          </p:cNvPr>
          <p:cNvSpPr txBox="1"/>
          <p:nvPr/>
        </p:nvSpPr>
        <p:spPr>
          <a:xfrm>
            <a:off x="128337" y="1225689"/>
            <a:ext cx="1219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ChosunBiz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삼성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금융앱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‘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모니모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’ 출범에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핀테크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업계 촉각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ChosunBiz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삼성전자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'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삼성페이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'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가입자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1900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만 확보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...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전용 특화카드도 출시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IT Is True 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간편 결제 서비스 네이버페이란 무엇일까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?(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소개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장점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단점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결제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송금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금융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멤버십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) –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네이버 블로그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Jobplanet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- "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토스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연봉 높지만 아쉬운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워라밸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“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JOBKOREA - “㈜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비라리퍼블리카</a:t>
            </a:r>
            <a:endParaRPr lang="ko-KR" altLang="en-US" sz="1600" i="0" dirty="0">
              <a:solidFill>
                <a:srgbClr val="323438"/>
              </a:solidFill>
              <a:effectLst/>
              <a:latin typeface="Roboto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KISO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저널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전자금융거래법 개정의 의미와 주요 쟁점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KISO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저널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국내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테크핀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(</a:t>
            </a: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Tech+Fin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)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업계 동향과 전망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KBS NEWS -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국민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95%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가 스마트폰 사용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…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보급률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1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위 국가는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MOBINSIDE - [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회계로 스타트업 읽기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]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토스 재무제표 간단 분석</a:t>
            </a:r>
            <a:endParaRPr lang="en-US" altLang="ko-KR" sz="1600" i="0" dirty="0">
              <a:solidFill>
                <a:srgbClr val="323438"/>
              </a:solidFill>
              <a:effectLst/>
              <a:latin typeface="Roboto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NEWSIS -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원달러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환율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1240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원 돌파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…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장중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연고점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경신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NEWSIS - [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조여오는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'S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공포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'①]4%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대 고물가 속 성장률 둔화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…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고착화되나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NEWSIS - "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코로나 저금리에 집값 거품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·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불균형↑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…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공급 확대 통한 정상화 필요“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Tistory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블로그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카카오페이 사용법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2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편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카카오페이 카드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활용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장단점 정리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Udemy </a:t>
            </a:r>
            <a:r>
              <a:rPr lang="en-US" altLang="ko-KR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korea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- Z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세대가 바꾸는 금융공식은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YTN-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계산대 없는 편의점에 가봤습니다</a:t>
            </a:r>
            <a:endParaRPr lang="en-US" altLang="ko-KR" sz="1600" i="0" dirty="0">
              <a:solidFill>
                <a:srgbClr val="323438"/>
              </a:solidFill>
              <a:effectLst/>
              <a:latin typeface="Roboto" panose="02000000000000000000" pitchFamily="2" charset="0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나무위키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–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카카오페이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네이버페이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삼성페이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나무위키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–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대한민국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/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출산율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네이버 증권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네이버 금융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더곱라이프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- MZ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세대 뜻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나이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특징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, </a:t>
            </a:r>
            <a:r>
              <a:rPr lang="ko-KR" altLang="en-US" sz="1600" i="0" dirty="0" err="1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소비트렌드는</a:t>
            </a:r>
            <a:r>
              <a:rPr lang="ko-KR" altLang="en-US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 어떨까</a:t>
            </a:r>
            <a:r>
              <a:rPr lang="en-US" altLang="ko-KR" sz="1600" i="0" dirty="0">
                <a:solidFill>
                  <a:srgbClr val="323438"/>
                </a:solidFill>
                <a:effectLst/>
                <a:latin typeface="Roboto" panose="02000000000000000000" pitchFamily="2" charset="0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동아일보 </a:t>
            </a:r>
            <a:r>
              <a:rPr lang="en-US" altLang="ko-KR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코로나 특수 끝나나</a:t>
            </a:r>
            <a:r>
              <a:rPr lang="en-US" altLang="ko-KR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 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韓 네이버도 美 </a:t>
            </a:r>
            <a:r>
              <a:rPr lang="ko-KR" altLang="en-US" sz="1600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넷플릭스도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‘쇼크’</a:t>
            </a:r>
            <a:endParaRPr lang="en-US" altLang="ko-KR" sz="1600" dirty="0">
              <a:solidFill>
                <a:srgbClr val="222222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동아일보 </a:t>
            </a:r>
            <a:r>
              <a:rPr lang="en-US" altLang="ko-KR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‘</a:t>
            </a:r>
            <a:r>
              <a:rPr lang="ko-KR" altLang="en-US" sz="1600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핀테크’와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‘</a:t>
            </a:r>
            <a:r>
              <a:rPr lang="ko-KR" altLang="en-US" sz="1600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테크핀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’</a:t>
            </a:r>
            <a:r>
              <a:rPr lang="en-US" altLang="ko-KR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어떻게 </a:t>
            </a:r>
            <a:r>
              <a:rPr lang="ko-KR" altLang="en-US" sz="1600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다른가요</a:t>
            </a:r>
            <a:r>
              <a:rPr lang="en-US" altLang="ko-KR" sz="1600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7379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직선 연결선 2">
            <a:extLst>
              <a:ext uri="{FF2B5EF4-FFF2-40B4-BE49-F238E27FC236}">
                <a16:creationId xmlns:a16="http://schemas.microsoft.com/office/drawing/2014/main" id="{B22D6E3A-2633-4521-919B-4979A0CF1E04}"/>
              </a:ext>
            </a:extLst>
          </p:cNvPr>
          <p:cNvCxnSpPr>
            <a:cxnSpLocks/>
          </p:cNvCxnSpPr>
          <p:nvPr/>
        </p:nvCxnSpPr>
        <p:spPr>
          <a:xfrm>
            <a:off x="128337" y="128337"/>
            <a:ext cx="12063663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412B92A5-CACA-42B6-AF84-4914E60F0529}"/>
              </a:ext>
            </a:extLst>
          </p:cNvPr>
          <p:cNvSpPr txBox="1"/>
          <p:nvPr/>
        </p:nvSpPr>
        <p:spPr>
          <a:xfrm>
            <a:off x="288758" y="176466"/>
            <a:ext cx="35545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400" spc="-300" dirty="0"/>
              <a:t>5. </a:t>
            </a:r>
            <a:r>
              <a:rPr lang="ko-KR" altLang="en-US" sz="5400" spc="-300" dirty="0"/>
              <a:t>참고자료</a:t>
            </a:r>
          </a:p>
        </p:txBody>
      </p:sp>
      <p:grpSp>
        <p:nvGrpSpPr>
          <p:cNvPr id="8" name="그룹 7">
            <a:extLst>
              <a:ext uri="{FF2B5EF4-FFF2-40B4-BE49-F238E27FC236}">
                <a16:creationId xmlns:a16="http://schemas.microsoft.com/office/drawing/2014/main" id="{417C9107-2ED2-4EA1-A0F7-AD9AD6E36598}"/>
              </a:ext>
            </a:extLst>
          </p:cNvPr>
          <p:cNvGrpSpPr/>
          <p:nvPr/>
        </p:nvGrpSpPr>
        <p:grpSpPr>
          <a:xfrm>
            <a:off x="0" y="0"/>
            <a:ext cx="128337" cy="2406310"/>
            <a:chOff x="0" y="0"/>
            <a:chExt cx="128337" cy="4010510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424A40A-61C0-43BC-95E6-17431DB48173}"/>
                </a:ext>
              </a:extLst>
            </p:cNvPr>
            <p:cNvSpPr/>
            <p:nvPr/>
          </p:nvSpPr>
          <p:spPr>
            <a:xfrm>
              <a:off x="0" y="0"/>
              <a:ext cx="128337" cy="2005255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351F4E33-C17D-455A-B5E4-9153321A6A66}"/>
                </a:ext>
              </a:extLst>
            </p:cNvPr>
            <p:cNvSpPr/>
            <p:nvPr/>
          </p:nvSpPr>
          <p:spPr>
            <a:xfrm>
              <a:off x="0" y="2005255"/>
              <a:ext cx="128337" cy="200525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05F835DD-A5CC-44DB-9665-F0F989062551}"/>
              </a:ext>
            </a:extLst>
          </p:cNvPr>
          <p:cNvCxnSpPr/>
          <p:nvPr/>
        </p:nvCxnSpPr>
        <p:spPr>
          <a:xfrm>
            <a:off x="112294" y="6721642"/>
            <a:ext cx="988193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655665D-6067-435C-93BB-AE74D67D2B74}"/>
              </a:ext>
            </a:extLst>
          </p:cNvPr>
          <p:cNvCxnSpPr>
            <a:cxnSpLocks/>
          </p:cNvCxnSpPr>
          <p:nvPr/>
        </p:nvCxnSpPr>
        <p:spPr>
          <a:xfrm>
            <a:off x="0" y="1213701"/>
            <a:ext cx="12192000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DF58F7E-A90A-49F6-BF7D-F7DB6261771D}"/>
              </a:ext>
            </a:extLst>
          </p:cNvPr>
          <p:cNvSpPr txBox="1"/>
          <p:nvPr/>
        </p:nvSpPr>
        <p:spPr>
          <a:xfrm>
            <a:off x="870140" y="1213701"/>
            <a:ext cx="10580057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모바일인덱스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–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데이터로 바라보는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`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토스뱅크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`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경쟁력은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매일경제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이승건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비바리퍼블리카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대표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...'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주린이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전용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MTS·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연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2%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금리로 대박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매일경제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지난해 뱅킹 앱 사용자 수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위 토스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카카오뱅크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2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위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매일경제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금융앱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개발 걸림돌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망분리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규제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풀린다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매일경제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내 손안의 비서 ‘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마이데이터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’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100%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활용법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보안뉴스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CES 2022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를 통해 본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핀테크의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미래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보안뉴스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우크라이나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러시아 전쟁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암호화폐와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핀테크의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혁신 가속화 될까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법무법인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(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유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)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세종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| SHIN &amp; KIM LLC 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금융분야 클라우드 및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망분리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규제가 완화됩니다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서울신문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 ‘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원앱전략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’ 통했다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카뱅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제치고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뱅킹앱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사용자 수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1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위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스트레이트뉴스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토스뱅크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“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빅데이터 분석 차별화로 ‘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저신용자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대출’ 문 열겠다”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이데일리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[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단독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]`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주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52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시간 유연화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`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尹정부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文도 못한 포괄임금제 손본다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이데일리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투자중개업 예비인가 획득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…"20~30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대 투자참여 이끌 것“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전자신문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[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전문가기고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]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새 정부의 금융혁신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'K-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핀테크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도약에 달렸다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최저임금위원회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통계청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MZ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세대의 건강 트렌드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헬시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플레저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’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특허법인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비엘티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IP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로 엿보는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유니콘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이야기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3 -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토스의 놀라운 혁신은 계속되고 있는가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한경경제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기업가치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8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조로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…'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데카콘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'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눈앞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한경경제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마이데이터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100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일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정작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웃은건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스타벅스뿐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?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한경경제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- "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토스의 성장 원동력은 혁신조직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…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아이디어 좋으면 누구나 리더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"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한국핀테크지원센터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–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금융과 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AI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의 만남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, </a:t>
            </a:r>
            <a:r>
              <a:rPr lang="ko-KR" altLang="en-US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어디까지 </a:t>
            </a:r>
            <a:r>
              <a:rPr lang="ko-KR" altLang="en-US" i="0" dirty="0" err="1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왔니</a:t>
            </a:r>
            <a:r>
              <a:rPr lang="en-US" altLang="ko-KR" i="0" dirty="0">
                <a:solidFill>
                  <a:srgbClr val="222222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06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87FBD146-31D5-4FFF-8FC8-FB10279EF94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9DAD297-42AA-4195-A260-630E4B20F96E}"/>
              </a:ext>
            </a:extLst>
          </p:cNvPr>
          <p:cNvSpPr txBox="1"/>
          <p:nvPr/>
        </p:nvSpPr>
        <p:spPr>
          <a:xfrm>
            <a:off x="4524897" y="1046490"/>
            <a:ext cx="31422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spc="-3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806753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테마">
  <a:themeElements>
    <a:clrScheme name="201108_p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2B194"/>
      </a:accent1>
      <a:accent2>
        <a:srgbClr val="A9BCC7"/>
      </a:accent2>
      <a:accent3>
        <a:srgbClr val="EE7849"/>
      </a:accent3>
      <a:accent4>
        <a:srgbClr val="F9DEA3"/>
      </a:accent4>
      <a:accent5>
        <a:srgbClr val="F7EFE7"/>
      </a:accent5>
      <a:accent6>
        <a:srgbClr val="CAC3BD"/>
      </a:accent6>
      <a:hlink>
        <a:srgbClr val="3F3F3F"/>
      </a:hlink>
      <a:folHlink>
        <a:srgbClr val="3F3F3F"/>
      </a:folHlink>
    </a:clrScheme>
    <a:fontScheme name="Arial_나눔스퀘어">
      <a:majorFont>
        <a:latin typeface="Arial"/>
        <a:ea typeface="나눔스퀘어 ExtraBold"/>
        <a:cs typeface=""/>
      </a:majorFont>
      <a:minorFont>
        <a:latin typeface="Arial"/>
        <a:ea typeface="나눔스퀘어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1893</TotalTime>
  <Words>2769</Words>
  <Application>Microsoft Office PowerPoint</Application>
  <PresentationFormat>와이드스크린</PresentationFormat>
  <Paragraphs>286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6" baseType="lpstr">
      <vt:lpstr>Nanum Gothic</vt:lpstr>
      <vt:lpstr>나눔스퀘어 ExtraBold</vt:lpstr>
      <vt:lpstr>나눔스퀘어 Light</vt:lpstr>
      <vt:lpstr>Malgun Gothic</vt:lpstr>
      <vt:lpstr>Malgun Gothic</vt:lpstr>
      <vt:lpstr>Arial</vt:lpstr>
      <vt:lpstr>Roboto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Yu Saebyeol</dc:creator>
  <cp:lastModifiedBy>park jaeyoon</cp:lastModifiedBy>
  <cp:revision>104</cp:revision>
  <dcterms:created xsi:type="dcterms:W3CDTF">2020-11-08T00:44:28Z</dcterms:created>
  <dcterms:modified xsi:type="dcterms:W3CDTF">2022-04-26T08:32:01Z</dcterms:modified>
</cp:coreProperties>
</file>